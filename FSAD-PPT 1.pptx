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media/image3.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3"/>
    <p:sldId id="257" r:id="rId4"/>
    <p:sldId id="258" r:id="rId5"/>
    <p:sldId id="259" r:id="rId6"/>
    <p:sldId id="260" r:id="rId7"/>
    <p:sldId id="261" r:id="rId8"/>
    <p:sldId id="263" r:id="rId9"/>
    <p:sldId id="262" r:id="rId10"/>
    <p:sldId id="264" r:id="rId11"/>
    <p:sldId id="266" r:id="rId12"/>
    <p:sldId id="269" r:id="rId13"/>
    <p:sldId id="267" r:id="rId14"/>
    <p:sldId id="268" r:id="rId15"/>
    <p:sldId id="270" r:id="rId16"/>
    <p:sldId id="265" r:id="rId17"/>
  </p:sldIdLst>
  <p:sldSz cx="18288000" cy="10287000"/>
  <p:notesSz cx="6858000" cy="9144000"/>
  <p:embeddedFontLst>
    <p:embeddedFont>
      <p:font typeface="Cambria" panose="02040503050406030204" pitchFamily="18" charset="0"/>
      <p:regular r:id="rId21"/>
      <p:bold r:id="rId22"/>
      <p:italic r:id="rId23"/>
      <p:boldItalic r:id="rId24"/>
    </p:embeddedFont>
    <p:embeddedFont>
      <p:font typeface="Bookman Old Style" panose="02050604050505020204" pitchFamily="18" charset="0"/>
      <p:regular r:id="rId25"/>
      <p:bold r:id="rId26"/>
      <p:italic r:id="rId27"/>
    </p:embeddedFont>
    <p:embeddedFont>
      <p:font typeface="Gotham"/>
      <p:regular r:id="rId28"/>
    </p:embeddedFont>
    <p:embeddedFont>
      <p:font typeface="Gotham Bold Italics" panose="02000000000000000000"/>
      <p:boldItalic r:id="rId29"/>
    </p:embeddedFont>
    <p:embeddedFont>
      <p:font typeface="Calibri" panose="020F0502020204030204" charset="0"/>
      <p:regular r:id="rId30"/>
      <p:bold r:id="rId31"/>
      <p:italic r:id="rId32"/>
      <p:boldItalic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showGuides="1">
      <p:cViewPr varScale="1">
        <p:scale>
          <a:sx n="51" d="100"/>
          <a:sy n="51" d="100"/>
        </p:scale>
        <p:origin x="898" y="5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3" Type="http://schemas.openxmlformats.org/officeDocument/2006/relationships/font" Target="fonts/font13.fntdata"/><Relationship Id="rId32" Type="http://schemas.openxmlformats.org/officeDocument/2006/relationships/font" Target="fonts/font12.fntdata"/><Relationship Id="rId31" Type="http://schemas.openxmlformats.org/officeDocument/2006/relationships/font" Target="fonts/font11.fntdata"/><Relationship Id="rId30" Type="http://schemas.openxmlformats.org/officeDocument/2006/relationships/font" Target="fonts/font10.fntdata"/><Relationship Id="rId3" Type="http://schemas.openxmlformats.org/officeDocument/2006/relationships/slide" Target="slides/slide1.xml"/><Relationship Id="rId29" Type="http://schemas.openxmlformats.org/officeDocument/2006/relationships/font" Target="fonts/font9.fntdata"/><Relationship Id="rId28" Type="http://schemas.openxmlformats.org/officeDocument/2006/relationships/font" Target="fonts/font8.fntdata"/><Relationship Id="rId27" Type="http://schemas.openxmlformats.org/officeDocument/2006/relationships/font" Target="fonts/font7.fntdata"/><Relationship Id="rId26" Type="http://schemas.openxmlformats.org/officeDocument/2006/relationships/font" Target="fonts/font6.fntdata"/><Relationship Id="rId25" Type="http://schemas.openxmlformats.org/officeDocument/2006/relationships/font" Target="fonts/font5.fntdata"/><Relationship Id="rId24" Type="http://schemas.openxmlformats.org/officeDocument/2006/relationships/font" Target="fonts/font4.fntdata"/><Relationship Id="rId23" Type="http://schemas.openxmlformats.org/officeDocument/2006/relationships/font" Target="fonts/font3.fntdata"/><Relationship Id="rId22" Type="http://schemas.openxmlformats.org/officeDocument/2006/relationships/font" Target="fonts/font2.fntdata"/><Relationship Id="rId21" Type="http://schemas.openxmlformats.org/officeDocument/2006/relationships/font" Target="fonts/font1.fntdata"/><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sv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svg"/><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svg"/><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svg"/><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5.png"/><Relationship Id="rId2" Type="http://schemas.openxmlformats.org/officeDocument/2006/relationships/image" Target="../media/image3.svg"/><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svg"/><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6.png"/><Relationship Id="rId2" Type="http://schemas.openxmlformats.org/officeDocument/2006/relationships/image" Target="../media/image3.svg"/><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svg"/><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7.png"/><Relationship Id="rId2" Type="http://schemas.openxmlformats.org/officeDocument/2006/relationships/image" Target="../media/image3.svg"/><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0.png"/><Relationship Id="rId2" Type="http://schemas.openxmlformats.org/officeDocument/2006/relationships/image" Target="../media/image3.svg"/><Relationship Id="rId1" Type="http://schemas.openxmlformats.org/officeDocument/2006/relationships/image" Target="../media/image4.png"/></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1.png"/><Relationship Id="rId2" Type="http://schemas.openxmlformats.org/officeDocument/2006/relationships/image" Target="../media/image3.svg"/><Relationship Id="rId1"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svg"/><Relationship Id="rId1"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svg"/><Relationship Id="rId1"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pic>
        <p:nvPicPr>
          <p:cNvPr id="23" name="Picture 22"/>
          <p:cNvPicPr>
            <a:picLocks noChangeAspect="1"/>
          </p:cNvPicPr>
          <p:nvPr/>
        </p:nvPicPr>
        <p:blipFill>
          <a:blip r:embed="rId1"/>
          <a:stretch>
            <a:fillRect/>
          </a:stretch>
        </p:blipFill>
        <p:spPr>
          <a:xfrm>
            <a:off x="6610443" y="196689"/>
            <a:ext cx="4752247" cy="1360611"/>
          </a:xfrm>
          <a:prstGeom prst="rect">
            <a:avLst/>
          </a:prstGeom>
        </p:spPr>
      </p:pic>
      <p:sp>
        <p:nvSpPr>
          <p:cNvPr id="24" name="TextBox 23"/>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endParaRPr lang="en-US" sz="3200" b="1" dirty="0">
              <a:latin typeface="Cambria" panose="02040503050406030204" pitchFamily="18" charset="0"/>
              <a:ea typeface="Cambria" panose="02040503050406030204" pitchFamily="18" charset="0"/>
            </a:endParaRPr>
          </a:p>
          <a:p>
            <a:pPr algn="ctr"/>
            <a:r>
              <a:rPr lang="en-US" sz="3600" b="1" dirty="0">
                <a:latin typeface="Cambria" panose="02040503050406030204" pitchFamily="18" charset="0"/>
                <a:ea typeface="Cambria" panose="02040503050406030204" pitchFamily="18" charset="0"/>
              </a:rPr>
              <a:t>School of Computing </a:t>
            </a:r>
            <a:endParaRPr lang="en-US" sz="3600" b="1" dirty="0">
              <a:latin typeface="Cambria" panose="02040503050406030204" pitchFamily="18" charset="0"/>
              <a:ea typeface="Cambria" panose="02040503050406030204" pitchFamily="18" charset="0"/>
            </a:endParaRP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p:cNvSpPr txBox="1"/>
          <p:nvPr/>
        </p:nvSpPr>
        <p:spPr>
          <a:xfrm>
            <a:off x="3727757" y="3897940"/>
            <a:ext cx="11190289" cy="1753235"/>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1</a:t>
            </a:r>
            <a:endParaRPr lang="en-IN" sz="3600" b="1" dirty="0">
              <a:solidFill>
                <a:srgbClr val="C00000"/>
              </a:solidFill>
              <a:latin typeface="Arial" panose="020B0604020202020204" pitchFamily="34" charset="0"/>
              <a:cs typeface="Arial" panose="020B0604020202020204" pitchFamily="34" charset="0"/>
            </a:endParaRP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a:t>
            </a:r>
            <a:r>
              <a:rPr lang="en-US" altLang="en-IN" sz="3600" b="1" dirty="0">
                <a:solidFill>
                  <a:srgbClr val="C00000"/>
                </a:solidFill>
                <a:latin typeface="Arial" panose="020B0604020202020204" pitchFamily="34" charset="0"/>
                <a:cs typeface="Arial" panose="020B0604020202020204" pitchFamily="34" charset="0"/>
              </a:rPr>
              <a:t>23</a:t>
            </a:r>
            <a:r>
              <a:rPr lang="en-IN" sz="3600" b="1" dirty="0">
                <a:solidFill>
                  <a:srgbClr val="C00000"/>
                </a:solidFill>
                <a:latin typeface="Arial" panose="020B0604020202020204" pitchFamily="34" charset="0"/>
                <a:cs typeface="Arial" panose="020B0604020202020204" pitchFamily="34" charset="0"/>
              </a:rPr>
              <a:t>-</a:t>
            </a:r>
            <a:r>
              <a:rPr lang="en-US" altLang="en-IN" sz="3600" b="1" dirty="0">
                <a:solidFill>
                  <a:srgbClr val="C00000"/>
                </a:solidFill>
                <a:latin typeface="Arial" panose="020B0604020202020204" pitchFamily="34" charset="0"/>
                <a:cs typeface="Arial" panose="020B0604020202020204" pitchFamily="34" charset="0"/>
              </a:rPr>
              <a:t>03</a:t>
            </a:r>
            <a:r>
              <a:rPr lang="en-IN" sz="3600" b="1" dirty="0">
                <a:solidFill>
                  <a:srgbClr val="C00000"/>
                </a:solidFill>
                <a:latin typeface="Arial" panose="020B0604020202020204" pitchFamily="34" charset="0"/>
                <a:cs typeface="Arial" panose="020B0604020202020204" pitchFamily="34" charset="0"/>
              </a:rPr>
              <a:t>-</a:t>
            </a:r>
            <a:r>
              <a:rPr lang="en-US" altLang="en-IN" sz="3600" b="1" dirty="0">
                <a:solidFill>
                  <a:srgbClr val="C00000"/>
                </a:solidFill>
                <a:latin typeface="Arial" panose="020B0604020202020204" pitchFamily="34" charset="0"/>
                <a:cs typeface="Arial" panose="020B0604020202020204" pitchFamily="34" charset="0"/>
              </a:rPr>
              <a:t>2026</a:t>
            </a:r>
            <a:endParaRPr lang="en-US" altLang="en-IN" sz="3600" b="1" dirty="0">
              <a:solidFill>
                <a:srgbClr val="C00000"/>
              </a:solidFill>
              <a:latin typeface="Arial" panose="020B0604020202020204" pitchFamily="34" charset="0"/>
              <a:cs typeface="Arial" panose="020B0604020202020204" pitchFamily="34" charset="0"/>
            </a:endParaRPr>
          </a:p>
        </p:txBody>
      </p:sp>
      <p:sp>
        <p:nvSpPr>
          <p:cNvPr id="13" name="TextBox 12"/>
          <p:cNvSpPr txBox="1"/>
          <p:nvPr/>
        </p:nvSpPr>
        <p:spPr>
          <a:xfrm>
            <a:off x="1828665" y="6057900"/>
            <a:ext cx="15784162" cy="583565"/>
          </a:xfrm>
          <a:prstGeom prst="rect">
            <a:avLst/>
          </a:prstGeom>
          <a:noFill/>
        </p:spPr>
        <p:txBody>
          <a:bodyPr wrap="square" rtlCol="0">
            <a:spAutoFit/>
          </a:bodyPr>
          <a:lstStyle/>
          <a:p>
            <a:pPr algn="ctr"/>
            <a:r>
              <a:rPr lang="en-US" altLang="en-US" sz="3200" b="1" dirty="0">
                <a:solidFill>
                  <a:srgbClr val="0033CC"/>
                </a:solidFill>
                <a:latin typeface="Times New Roman" panose="02020603050405020304" pitchFamily="18" charset="0"/>
                <a:cs typeface="Times New Roman" panose="02020603050405020304" pitchFamily="18" charset="0"/>
              </a:rPr>
              <a:t>Subscription-Based Membership Engine with Tiered Logic</a:t>
            </a:r>
            <a:endParaRPr lang="en-US" altLang="en-US" sz="3200" b="1" dirty="0">
              <a:solidFill>
                <a:srgbClr val="0033CC"/>
              </a:solidFill>
              <a:latin typeface="Times New Roman" panose="02020603050405020304" pitchFamily="18" charset="0"/>
              <a:cs typeface="Times New Roman" panose="02020603050405020304" pitchFamily="18" charset="0"/>
            </a:endParaRPr>
          </a:p>
        </p:txBody>
      </p:sp>
      <p:sp>
        <p:nvSpPr>
          <p:cNvPr id="14" name="TextBox 13"/>
          <p:cNvSpPr txBox="1"/>
          <p:nvPr/>
        </p:nvSpPr>
        <p:spPr>
          <a:xfrm>
            <a:off x="893870" y="7800539"/>
            <a:ext cx="9067800" cy="1476375"/>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endParaRPr lang="en-US" sz="3000" b="1" dirty="0">
              <a:latin typeface="Cambria" panose="02040503050406030204" pitchFamily="18" charset="0"/>
              <a:ea typeface="Cambria" panose="02040503050406030204" pitchFamily="18" charset="0"/>
            </a:endParaRPr>
          </a:p>
          <a:p>
            <a:pPr>
              <a:lnSpc>
                <a:spcPct val="150000"/>
              </a:lnSpc>
            </a:pPr>
            <a:r>
              <a:rPr lang="en-US" sz="3000" dirty="0">
                <a:latin typeface="Cambria" panose="02040503050406030204" pitchFamily="18" charset="0"/>
                <a:ea typeface="Cambria" panose="02040503050406030204" pitchFamily="18" charset="0"/>
              </a:rPr>
              <a:t>K.SAI MANIKANTA– </a:t>
            </a:r>
            <a:r>
              <a:rPr lang="en-US" sz="3000" dirty="0" err="1">
                <a:latin typeface="Cambria" panose="02040503050406030204" pitchFamily="18" charset="0"/>
                <a:ea typeface="Cambria" panose="02040503050406030204" pitchFamily="18" charset="0"/>
              </a:rPr>
              <a:t>VTU25937</a:t>
            </a:r>
            <a:r>
              <a:rPr lang="en-US" sz="3000" dirty="0">
                <a:latin typeface="Cambria" panose="02040503050406030204" pitchFamily="18" charset="0"/>
                <a:ea typeface="Cambria" panose="02040503050406030204" pitchFamily="18" charset="0"/>
              </a:rPr>
              <a:t> – 23UECS0639</a:t>
            </a:r>
            <a:endParaRPr lang="en-IN" sz="3000" dirty="0">
              <a:latin typeface="Cambria" panose="02040503050406030204" pitchFamily="18" charset="0"/>
              <a:ea typeface="Cambria" panose="02040503050406030204" pitchFamily="18" charset="0"/>
            </a:endParaRPr>
          </a:p>
        </p:txBody>
      </p:sp>
      <p:sp>
        <p:nvSpPr>
          <p:cNvPr id="15" name="TextBox 14"/>
          <p:cNvSpPr txBox="1"/>
          <p:nvPr/>
        </p:nvSpPr>
        <p:spPr>
          <a:xfrm>
            <a:off x="10945035" y="7818586"/>
            <a:ext cx="6914603" cy="1476375"/>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endParaRPr lang="en-US" sz="3000" b="1" dirty="0">
              <a:latin typeface="Cambria" panose="02040503050406030204" pitchFamily="18" charset="0"/>
              <a:ea typeface="Cambria" panose="02040503050406030204" pitchFamily="18" charset="0"/>
            </a:endParaRPr>
          </a:p>
          <a:p>
            <a:pPr>
              <a:lnSpc>
                <a:spcPct val="150000"/>
              </a:lnSpc>
            </a:pPr>
            <a:r>
              <a:rPr lang="en-US" sz="3000" dirty="0">
                <a:latin typeface="Cambria" panose="02040503050406030204" pitchFamily="18" charset="0"/>
                <a:ea typeface="Cambria" panose="02040503050406030204" pitchFamily="18" charset="0"/>
              </a:rPr>
              <a:t>Dr. S . HEMAMALINI - M.E.,Ph.D.,</a:t>
            </a:r>
            <a:endParaRPr lang="en-IN" sz="3000" dirty="0">
              <a:latin typeface="Cambria" panose="02040503050406030204" pitchFamily="18" charset="0"/>
              <a:ea typeface="Cambria" panose="02040503050406030204" pitchFamily="18" charset="0"/>
            </a:endParaRPr>
          </a:p>
        </p:txBody>
      </p:sp>
      <p:sp>
        <p:nvSpPr>
          <p:cNvPr id="16" name="TextBox 15"/>
          <p:cNvSpPr txBox="1"/>
          <p:nvPr/>
        </p:nvSpPr>
        <p:spPr>
          <a:xfrm>
            <a:off x="2209800" y="6972300"/>
            <a:ext cx="14743170" cy="398780"/>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 </a:t>
            </a:r>
            <a:r>
              <a:rPr lang="en-US" altLang="en-US" sz="2000" b="1" dirty="0">
                <a:latin typeface="Cambria" panose="02040503050406030204" pitchFamily="18" charset="0"/>
                <a:ea typeface="Cambria" panose="02040503050406030204" pitchFamily="18" charset="0"/>
              </a:rPr>
              <a:t>SDG 9 – Industry, Innovation and Infrastructure</a:t>
            </a:r>
            <a:endParaRPr lang="en-US" altLang="en-US" sz="20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1</a:t>
              </a:r>
              <a:endParaRPr lang="en-US" sz="2700">
                <a:solidFill>
                  <a:srgbClr val="FFFEFE"/>
                </a:solidFill>
                <a:latin typeface="Gotham"/>
                <a:ea typeface="Gotham"/>
                <a:cs typeface="Gotham"/>
                <a:sym typeface="Gotham"/>
              </a:endParaRP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2" name="TextBox 1"/>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2057400" y="1435405"/>
            <a:ext cx="15431475" cy="12710160"/>
          </a:xfrm>
          <a:prstGeom prst="rect">
            <a:avLst/>
          </a:prstGeom>
          <a:noFill/>
        </p:spPr>
        <p:txBody>
          <a:bodyPr wrap="square" rtlCol="0">
            <a:spAutoFit/>
          </a:bodyPr>
          <a:lstStyle/>
          <a:p>
            <a:pPr algn="just"/>
            <a:r>
              <a:rPr lang="en-US" sz="4400" dirty="0"/>
              <a:t>A Subscription-Based Membership Engine is a system that manages users and their membership plans efficiently. Many organizations offer different subscription levels such as Free, Pro, and Premium. Managing these subscriptions manually can lead to errors and inefficiency. This project provides an automated web-based platform to manage membership registrations, subscription plans, and payments. The system allows administrators to monitor members and their plans easily. It improves data accuracy and simplifies membership management. The system is designed using modern full-stack development technologies.</a:t>
            </a:r>
            <a:endParaRPr lang="en-US" sz="4400" dirty="0"/>
          </a:p>
          <a:p>
            <a:pPr marL="457200" indent="-457200" algn="just">
              <a:buFontTx/>
              <a:buChar char="-"/>
            </a:pPr>
            <a:endParaRPr lang="en-US" sz="4400" dirty="0"/>
          </a:p>
          <a:p>
            <a:pPr marL="457200" indent="-457200" algn="just">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2</a:t>
              </a:r>
              <a:endParaRPr lang="en-US" sz="2700">
                <a:solidFill>
                  <a:srgbClr val="FFFEFE"/>
                </a:solidFill>
                <a:latin typeface="Gotham"/>
                <a:ea typeface="Gotham"/>
                <a:cs typeface="Gotham"/>
                <a:sym typeface="Gotham"/>
              </a:endParaRP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47" name="TextBox 46"/>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p:cNvSpPr txBox="1"/>
          <p:nvPr/>
        </p:nvSpPr>
        <p:spPr>
          <a:xfrm>
            <a:off x="2254166" y="1687185"/>
            <a:ext cx="15082325" cy="13142059"/>
          </a:xfrm>
          <a:prstGeom prst="rect">
            <a:avLst/>
          </a:prstGeom>
          <a:noFill/>
        </p:spPr>
        <p:txBody>
          <a:bodyPr wrap="square" rtlCol="0">
            <a:spAutoFit/>
          </a:bodyPr>
          <a:lstStyle/>
          <a:p>
            <a:pPr algn="just"/>
            <a:r>
              <a:rPr lang="en-US" sz="4400" dirty="0"/>
              <a:t>In many organizations, membership management is still handled manually or using basic systems. This causes difficulties in tracking members, subscription plans, and payment details. Manual processes may lead to data errors, delays, and inefficient management. There is a need for a reliable and automated system that can manage memberships effectively. The system should allow easy registration, subscription selection, and data management. Therefore, developing a web-based membership engine can improve efficiency, accuracy, and overall user experience.</a:t>
            </a:r>
            <a:endParaRPr lang="en-US" sz="4400" dirty="0"/>
          </a:p>
          <a:p>
            <a:pPr algn="just"/>
            <a:endParaRPr lang="en-US" sz="44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3</a:t>
              </a:r>
              <a:endParaRPr lang="en-US" sz="2700">
                <a:solidFill>
                  <a:srgbClr val="FFFEFE"/>
                </a:solidFill>
                <a:latin typeface="Gotham"/>
                <a:ea typeface="Gotham"/>
                <a:cs typeface="Gotham"/>
                <a:sym typeface="Gotham"/>
              </a:endParaRP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50" name="TextBox 49"/>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52" name="TextBox 51"/>
          <p:cNvSpPr txBox="1"/>
          <p:nvPr/>
        </p:nvSpPr>
        <p:spPr>
          <a:xfrm>
            <a:off x="2209800" y="1638300"/>
            <a:ext cx="15082325" cy="6062345"/>
          </a:xfrm>
          <a:prstGeom prst="rect">
            <a:avLst/>
          </a:prstGeom>
          <a:noFill/>
        </p:spPr>
        <p:txBody>
          <a:bodyPr wrap="square" rtlCol="0">
            <a:spAutoFit/>
          </a:bodyPr>
          <a:lstStyle/>
          <a:p>
            <a:r>
              <a:rPr lang="en-US" sz="4400" dirty="0"/>
              <a:t>1 To design and develop a </a:t>
            </a:r>
            <a:r>
              <a:rPr lang="en-US" sz="4400" b="1" dirty="0"/>
              <a:t>web-based subscription membership management system</a:t>
            </a:r>
            <a:r>
              <a:rPr lang="en-US" sz="4400" dirty="0"/>
              <a:t>.</a:t>
            </a:r>
            <a:endParaRPr lang="en-US" sz="4400" dirty="0"/>
          </a:p>
          <a:p>
            <a:r>
              <a:rPr lang="en-US" sz="4400" dirty="0"/>
              <a:t>2 To implement </a:t>
            </a:r>
            <a:r>
              <a:rPr lang="en-US" sz="4400" b="1" dirty="0"/>
              <a:t>tier-based membership logic (Free, Pro, Premium)</a:t>
            </a:r>
            <a:r>
              <a:rPr lang="en-US" sz="4400" dirty="0"/>
              <a:t> for better subscription control.</a:t>
            </a:r>
            <a:endParaRPr lang="en-US" sz="4400" dirty="0"/>
          </a:p>
          <a:p>
            <a:endParaRPr lang="en-US" sz="44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4</a:t>
              </a:r>
              <a:endParaRPr lang="en-US" sz="2700">
                <a:solidFill>
                  <a:srgbClr val="FFFEFE"/>
                </a:solidFill>
                <a:latin typeface="Gotham"/>
                <a:ea typeface="Gotham"/>
                <a:cs typeface="Gotham"/>
                <a:sym typeface="Gotham"/>
              </a:endParaRP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45"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6" name="TextBox 45"/>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p:cNvSpPr txBox="1"/>
          <p:nvPr/>
        </p:nvSpPr>
        <p:spPr>
          <a:xfrm>
            <a:off x="2209800" y="1638300"/>
            <a:ext cx="15082325" cy="13142059"/>
          </a:xfrm>
          <a:prstGeom prst="rect">
            <a:avLst/>
          </a:prstGeom>
          <a:noFill/>
        </p:spPr>
        <p:txBody>
          <a:bodyPr wrap="square" rtlCol="0">
            <a:spAutoFit/>
          </a:bodyPr>
          <a:lstStyle/>
          <a:p>
            <a:pPr lvl="1"/>
            <a:r>
              <a:rPr lang="en-US" sz="4400" dirty="0"/>
              <a:t>• The proposed system provides a web-based platform for membership management.</a:t>
            </a:r>
            <a:br>
              <a:rPr lang="en-US" sz="4400" dirty="0"/>
            </a:br>
            <a:r>
              <a:rPr lang="en-US" sz="4400" dirty="0"/>
              <a:t>• Users can register and choose their subscription plan.</a:t>
            </a:r>
            <a:br>
              <a:rPr lang="en-US" sz="4400" dirty="0"/>
            </a:br>
            <a:r>
              <a:rPr lang="en-US" sz="4400" dirty="0"/>
              <a:t>• The system supports multiple membership tiers such as Basic, Silver, and Gold.</a:t>
            </a:r>
            <a:br>
              <a:rPr lang="en-US" sz="4400" dirty="0"/>
            </a:br>
            <a:r>
              <a:rPr lang="en-US" sz="4400" dirty="0"/>
              <a:t>• Admin can manage members, update plans, and delete memberships.</a:t>
            </a:r>
            <a:br>
              <a:rPr lang="en-US" sz="4400" dirty="0"/>
            </a:br>
            <a:r>
              <a:rPr lang="en-US" sz="4400" dirty="0"/>
              <a:t>• The system stores data securely in a database.</a:t>
            </a:r>
            <a:br>
              <a:rPr lang="en-US" sz="4400" dirty="0"/>
            </a:br>
            <a:r>
              <a:rPr lang="en-US" sz="4400" dirty="0"/>
              <a:t>• It provides a simple and interactive user interface.</a:t>
            </a:r>
            <a:br>
              <a:rPr lang="en-US" sz="4400" dirty="0"/>
            </a:br>
            <a:r>
              <a:rPr lang="en-US" sz="4400" dirty="0"/>
              <a:t>• The system reduces manual effort and increases efficiency.</a:t>
            </a:r>
            <a:br>
              <a:rPr lang="en-US" sz="4400" dirty="0"/>
            </a:br>
            <a:r>
              <a:rPr lang="en-US" sz="4400" dirty="0"/>
              <a:t>• It improves accuracy in managing subscription details.</a:t>
            </a:r>
            <a:endParaRPr lang="en-US" sz="4400" dirty="0"/>
          </a:p>
          <a:p>
            <a:pPr lvl="1"/>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5</a:t>
              </a:r>
              <a:endParaRPr lang="en-US" sz="2700">
                <a:solidFill>
                  <a:srgbClr val="FFFEFE"/>
                </a:solidFill>
                <a:latin typeface="Gotham"/>
                <a:ea typeface="Gotham"/>
                <a:cs typeface="Gotham"/>
                <a:sym typeface="Gotham"/>
              </a:endParaRP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1"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2" name="TextBox 41"/>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p:cNvSpPr txBox="1"/>
          <p:nvPr/>
        </p:nvSpPr>
        <p:spPr>
          <a:xfrm>
            <a:off x="-26164142" y="1638300"/>
            <a:ext cx="77076224" cy="521970"/>
          </a:xfrm>
          <a:prstGeom prst="rect">
            <a:avLst/>
          </a:prstGeom>
          <a:noFill/>
        </p:spPr>
        <p:txBody>
          <a:bodyPr wrap="square" rtlCol="0">
            <a:spAutoFit/>
          </a:bodyPr>
          <a:lstStyle/>
          <a:p>
            <a:r>
              <a:rPr lang="en-US" altLang="en-US" sz="2800" dirty="0"/>
              <a:t>admin123</a:t>
            </a:r>
            <a:endParaRPr lang="en-IN" sz="2800" dirty="0"/>
          </a:p>
        </p:txBody>
      </p:sp>
      <p:pic>
        <p:nvPicPr>
          <p:cNvPr id="2" name="Picture 1"/>
          <p:cNvPicPr>
            <a:picLocks noChangeAspect="1"/>
          </p:cNvPicPr>
          <p:nvPr/>
        </p:nvPicPr>
        <p:blipFill>
          <a:blip r:embed="rId3"/>
          <a:stretch>
            <a:fillRect/>
          </a:stretch>
        </p:blipFill>
        <p:spPr>
          <a:xfrm>
            <a:off x="2243455" y="2083435"/>
            <a:ext cx="14372590" cy="753554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7</a:t>
              </a:r>
              <a:endParaRPr lang="en-US" sz="2700">
                <a:solidFill>
                  <a:srgbClr val="FFFEFE"/>
                </a:solidFill>
                <a:latin typeface="Gotham"/>
                <a:ea typeface="Gotham"/>
                <a:cs typeface="Gotham"/>
                <a:sym typeface="Gotham"/>
              </a:endParaRP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46"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7" name="TextBox 46"/>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p:cNvSpPr txBox="1"/>
          <p:nvPr/>
        </p:nvSpPr>
        <p:spPr>
          <a:xfrm>
            <a:off x="2590800" y="1333500"/>
            <a:ext cx="14003956" cy="14372590"/>
          </a:xfrm>
          <a:prstGeom prst="rect">
            <a:avLst/>
          </a:prstGeom>
          <a:noFill/>
        </p:spPr>
        <p:txBody>
          <a:bodyPr wrap="square" rtlCol="0">
            <a:spAutoFit/>
          </a:bodyPr>
          <a:lstStyle/>
          <a:p>
            <a:r>
              <a:rPr lang="en-IN" sz="3200" b="1" dirty="0"/>
              <a:t>Frontend:</a:t>
            </a:r>
            <a:br>
              <a:rPr lang="en-IN" sz="3200" dirty="0"/>
            </a:br>
            <a:r>
              <a:rPr lang="en-IN" sz="3200" dirty="0"/>
              <a:t>HTML, CSS, </a:t>
            </a:r>
            <a:r>
              <a:rPr lang="en-IN" sz="3200" dirty="0" err="1"/>
              <a:t>Thymeleaf</a:t>
            </a:r>
            <a:endParaRPr lang="en-IN" sz="3200" dirty="0"/>
          </a:p>
          <a:p>
            <a:r>
              <a:rPr lang="en-IN" sz="3200" b="1" dirty="0"/>
              <a:t>Backend:</a:t>
            </a:r>
            <a:br>
              <a:rPr lang="en-IN" sz="3200" dirty="0"/>
            </a:br>
            <a:r>
              <a:rPr lang="en-US" altLang="en-IN" sz="3200" dirty="0"/>
              <a:t>Nodejs</a:t>
            </a:r>
            <a:endParaRPr lang="en-IN" sz="3200" dirty="0"/>
          </a:p>
          <a:p>
            <a:r>
              <a:rPr lang="en-IN" sz="3200" b="1" dirty="0"/>
              <a:t>Database:</a:t>
            </a:r>
            <a:br>
              <a:rPr lang="en-IN" sz="3200" dirty="0"/>
            </a:br>
            <a:r>
              <a:rPr lang="en-US" altLang="en-IN" sz="3200" dirty="0"/>
              <a:t>MYSQL</a:t>
            </a:r>
            <a:endParaRPr lang="en-IN" sz="3200" dirty="0"/>
          </a:p>
          <a:p>
            <a:r>
              <a:rPr lang="en-IN" sz="3200" b="1" dirty="0"/>
              <a:t>Tools:</a:t>
            </a:r>
            <a:br>
              <a:rPr lang="en-IN" sz="3200" dirty="0"/>
            </a:br>
            <a:r>
              <a:rPr lang="en-US" altLang="en-IN" sz="3200" dirty="0"/>
              <a:t>VS code</a:t>
            </a:r>
            <a:endParaRPr lang="en-IN" sz="3200" dirty="0"/>
          </a:p>
          <a:p>
            <a:r>
              <a:rPr lang="en-IN" sz="3200" b="1" dirty="0"/>
              <a:t>Hardware/Software Requirements:</a:t>
            </a:r>
            <a:endParaRPr lang="en-IN" sz="3200" dirty="0"/>
          </a:p>
          <a:p>
            <a:r>
              <a:rPr lang="en-IN" sz="3200" dirty="0"/>
              <a:t>Hardware</a:t>
            </a:r>
            <a:br>
              <a:rPr lang="en-IN" sz="3200" dirty="0"/>
            </a:br>
            <a:r>
              <a:rPr lang="en-IN" sz="3200" dirty="0"/>
              <a:t>• Computer / Laptop</a:t>
            </a:r>
            <a:br>
              <a:rPr lang="en-IN" sz="3200" dirty="0"/>
            </a:br>
            <a:r>
              <a:rPr lang="en-IN" sz="3200" dirty="0"/>
              <a:t>• Minimum 4GB RAM</a:t>
            </a:r>
            <a:endParaRPr lang="en-IN" sz="3200" dirty="0"/>
          </a:p>
          <a:p>
            <a:r>
              <a:rPr lang="en-IN" sz="3200" dirty="0"/>
              <a:t>Software</a:t>
            </a:r>
            <a:br>
              <a:rPr lang="en-IN" sz="3200" dirty="0"/>
            </a:br>
            <a:r>
              <a:rPr lang="en-IN" sz="3200" dirty="0"/>
              <a:t>• Java JDK</a:t>
            </a:r>
            <a:br>
              <a:rPr lang="en-IN" sz="3200" dirty="0"/>
            </a:br>
            <a:r>
              <a:rPr lang="en-IN" sz="3200" dirty="0"/>
              <a:t>• Eclipse IDE</a:t>
            </a:r>
            <a:br>
              <a:rPr lang="en-IN" sz="3200" dirty="0"/>
            </a:br>
            <a:r>
              <a:rPr lang="en-IN" sz="3200" dirty="0"/>
              <a:t>• Spring Boot</a:t>
            </a:r>
            <a:br>
              <a:rPr lang="en-IN" sz="3200" dirty="0"/>
            </a:br>
            <a:r>
              <a:rPr lang="en-IN" sz="3200" dirty="0"/>
              <a:t>• Web Browser</a:t>
            </a:r>
            <a:endParaRPr lang="en-IN" sz="3200" dirty="0"/>
          </a:p>
          <a:p>
            <a:pPr marL="457200" indent="-457200">
              <a:buFontTx/>
              <a:buChar char="-"/>
            </a:pPr>
            <a:endParaRPr lang="en-US" sz="4400" dirty="0"/>
          </a:p>
          <a:p>
            <a:pPr marL="457200" indent="-457200">
              <a:buFontTx/>
              <a:buChar char="-"/>
            </a:pPr>
            <a:endParaRPr lang="en-US" sz="4400" dirty="0"/>
          </a:p>
          <a:p>
            <a:pPr marL="457200" indent="-457200">
              <a:buFontTx/>
              <a:buChar char="-"/>
            </a:pPr>
            <a:endParaRPr lang="en-US" sz="44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6</a:t>
              </a:r>
              <a:endParaRPr lang="en-US" sz="2700">
                <a:solidFill>
                  <a:srgbClr val="FFFEFE"/>
                </a:solidFill>
                <a:latin typeface="Gotham"/>
                <a:ea typeface="Gotham"/>
                <a:cs typeface="Gotham"/>
                <a:sym typeface="Gotham"/>
              </a:endParaRP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46"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7" name="TextBox 46"/>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p:cNvSpPr txBox="1"/>
          <p:nvPr/>
        </p:nvSpPr>
        <p:spPr>
          <a:xfrm>
            <a:off x="2209800" y="1638300"/>
            <a:ext cx="15082325" cy="3970318"/>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2" name="Picture 1"/>
          <p:cNvPicPr>
            <a:picLocks noChangeAspect="1"/>
          </p:cNvPicPr>
          <p:nvPr/>
        </p:nvPicPr>
        <p:blipFill>
          <a:blip r:embed="rId3"/>
          <a:stretch>
            <a:fillRect/>
          </a:stretch>
        </p:blipFill>
        <p:spPr>
          <a:xfrm>
            <a:off x="3248660" y="1558290"/>
            <a:ext cx="13544550" cy="744728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8</a:t>
              </a:r>
              <a:endParaRPr lang="en-US" sz="2700">
                <a:solidFill>
                  <a:srgbClr val="FFFEFE"/>
                </a:solidFill>
                <a:latin typeface="Gotham"/>
                <a:ea typeface="Gotham"/>
                <a:cs typeface="Gotham"/>
                <a:sym typeface="Gotham"/>
              </a:endParaRP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3"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9264075"/>
          </a:xfrm>
          <a:prstGeom prst="rect">
            <a:avLst/>
          </a:prstGeom>
          <a:noFill/>
        </p:spPr>
        <p:txBody>
          <a:bodyPr wrap="square" rtlCol="0">
            <a:spAutoFit/>
          </a:bodyPr>
          <a:lstStyle/>
          <a:p>
            <a:endParaRPr lang="en-IN" sz="2800" b="1" dirty="0"/>
          </a:p>
          <a:p>
            <a:r>
              <a:rPr lang="en-US" sz="4400" b="1" dirty="0"/>
              <a:t>Module 1: User Management</a:t>
            </a:r>
            <a:br>
              <a:rPr lang="en-US" sz="4400" dirty="0"/>
            </a:br>
            <a:r>
              <a:rPr lang="en-US" sz="4400" dirty="0"/>
              <a:t>Handles member registration and membership plan selection.</a:t>
            </a:r>
            <a:endParaRPr lang="en-US" sz="4400" dirty="0"/>
          </a:p>
          <a:p>
            <a:r>
              <a:rPr lang="en-US" sz="4400" b="1" dirty="0"/>
              <a:t>Module 2: Membership Processing</a:t>
            </a:r>
            <a:br>
              <a:rPr lang="en-US" sz="4400" dirty="0"/>
            </a:br>
            <a:r>
              <a:rPr lang="en-US" sz="4400" dirty="0"/>
              <a:t>Implements the logic for different membership tiers.</a:t>
            </a:r>
            <a:endParaRPr lang="en-US" sz="4400" dirty="0"/>
          </a:p>
          <a:p>
            <a:r>
              <a:rPr lang="en-US" sz="4400" b="1" dirty="0"/>
              <a:t>Module 3: Database Management</a:t>
            </a:r>
            <a:br>
              <a:rPr lang="en-US" sz="4400" dirty="0"/>
            </a:br>
            <a:r>
              <a:rPr lang="en-US" sz="4400" dirty="0"/>
              <a:t>Stores and retrieves membership information securely.</a:t>
            </a:r>
            <a:endParaRPr lang="en-US" sz="4400" dirty="0"/>
          </a:p>
          <a:p>
            <a:r>
              <a:rPr lang="en-US" sz="4400" b="1" dirty="0"/>
              <a:t>Module 4: Dashboard &amp; Reporting</a:t>
            </a:r>
            <a:br>
              <a:rPr lang="en-US" sz="4400" dirty="0"/>
            </a:br>
            <a:r>
              <a:rPr lang="en-US" sz="4400" dirty="0"/>
              <a:t>Displays member details and subscription information for administrators.</a:t>
            </a:r>
            <a:endParaRPr lang="en-US" sz="4400" dirty="0"/>
          </a:p>
          <a:p>
            <a:endParaRPr lang="en-IN" sz="4400" dirty="0"/>
          </a:p>
          <a:p>
            <a:endParaRPr lang="en-IN" sz="4400" dirty="0"/>
          </a:p>
          <a:p>
            <a:endParaRPr lang="en-IN" sz="2800" dirty="0"/>
          </a:p>
          <a:p>
            <a:endParaRPr lang="en-IN" sz="2800" dirty="0"/>
          </a:p>
          <a:p>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a:t>
              </a:r>
              <a:endParaRPr lang="en-US" sz="2400" b="1" dirty="0">
                <a:solidFill>
                  <a:srgbClr val="002060"/>
                </a:solidFill>
                <a:latin typeface="Gotham"/>
                <a:ea typeface="Gotham"/>
                <a:cs typeface="Gotham"/>
                <a:sym typeface="Gotham"/>
              </a:endParaRP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3"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descr="Screenshot 2026-03-26 011230"/>
          <p:cNvPicPr>
            <a:picLocks noChangeAspect="1"/>
          </p:cNvPicPr>
          <p:nvPr/>
        </p:nvPicPr>
        <p:blipFill>
          <a:blip r:embed="rId3"/>
          <a:stretch>
            <a:fillRect/>
          </a:stretch>
        </p:blipFill>
        <p:spPr>
          <a:xfrm>
            <a:off x="5895975" y="1364615"/>
            <a:ext cx="6496050" cy="800290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8(A)</a:t>
              </a:r>
              <a:endParaRPr lang="en-US" sz="2400" b="1" dirty="0">
                <a:solidFill>
                  <a:srgbClr val="002060"/>
                </a:solidFill>
                <a:latin typeface="Gotham"/>
                <a:ea typeface="Gotham"/>
                <a:cs typeface="Gotham"/>
                <a:sym typeface="Gotham"/>
              </a:endParaRP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3"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6501765" cy="7477125"/>
          </a:xfrm>
          <a:prstGeom prst="rect">
            <a:avLst/>
          </a:prstGeom>
          <a:noFill/>
        </p:spPr>
        <p:txBody>
          <a:bodyPr wrap="square" rtlCol="0">
            <a:no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descr="Screenshot 2026-03-26 011400"/>
          <p:cNvPicPr>
            <a:picLocks noChangeAspect="1"/>
          </p:cNvPicPr>
          <p:nvPr/>
        </p:nvPicPr>
        <p:blipFill>
          <a:blip r:embed="rId3"/>
          <a:stretch>
            <a:fillRect/>
          </a:stretch>
        </p:blipFill>
        <p:spPr>
          <a:xfrm>
            <a:off x="1777365" y="1285875"/>
            <a:ext cx="6557645" cy="6765290"/>
          </a:xfrm>
          <a:prstGeom prst="rect">
            <a:avLst/>
          </a:prstGeom>
        </p:spPr>
      </p:pic>
      <p:sp>
        <p:nvSpPr>
          <p:cNvPr id="5" name="Text Box 4"/>
          <p:cNvSpPr txBox="1"/>
          <p:nvPr/>
        </p:nvSpPr>
        <p:spPr>
          <a:xfrm>
            <a:off x="9003030" y="1228090"/>
            <a:ext cx="7310755" cy="6595110"/>
          </a:xfrm>
          <a:prstGeom prst="rect">
            <a:avLst/>
          </a:prstGeom>
          <a:noFill/>
        </p:spPr>
        <p:txBody>
          <a:bodyPr wrap="square" rtlCol="0">
            <a:noAutofit/>
          </a:bodyPr>
          <a:p>
            <a:endParaRPr lang="en-US"/>
          </a:p>
        </p:txBody>
      </p:sp>
      <p:pic>
        <p:nvPicPr>
          <p:cNvPr id="6" name="Picture 5" descr="Screenshot 2026-03-26 011559"/>
          <p:cNvPicPr>
            <a:picLocks noChangeAspect="1"/>
          </p:cNvPicPr>
          <p:nvPr/>
        </p:nvPicPr>
        <p:blipFill>
          <a:blip r:embed="rId4"/>
          <a:stretch>
            <a:fillRect/>
          </a:stretch>
        </p:blipFill>
        <p:spPr>
          <a:xfrm>
            <a:off x="9193530" y="1285875"/>
            <a:ext cx="7202805" cy="651065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8(B)</a:t>
              </a:r>
              <a:endParaRPr lang="en-US" sz="2400" b="1" dirty="0">
                <a:solidFill>
                  <a:srgbClr val="002060"/>
                </a:solidFill>
                <a:latin typeface="Gotham"/>
                <a:ea typeface="Gotham"/>
                <a:cs typeface="Gotham"/>
                <a:sym typeface="Gotham"/>
              </a:endParaRP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3"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483209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descr="Screenshot 2026-03-26 011713"/>
          <p:cNvPicPr>
            <a:picLocks noChangeAspect="1"/>
          </p:cNvPicPr>
          <p:nvPr/>
        </p:nvPicPr>
        <p:blipFill>
          <a:blip r:embed="rId3"/>
          <a:stretch>
            <a:fillRect/>
          </a:stretch>
        </p:blipFill>
        <p:spPr>
          <a:xfrm>
            <a:off x="2302510" y="1652270"/>
            <a:ext cx="14364335" cy="68897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8(C)</a:t>
              </a:r>
              <a:endParaRPr lang="en-US" sz="2400" b="1" dirty="0">
                <a:solidFill>
                  <a:srgbClr val="002060"/>
                </a:solidFill>
                <a:latin typeface="Gotham"/>
                <a:ea typeface="Gotham"/>
                <a:cs typeface="Gotham"/>
                <a:sym typeface="Gotham"/>
              </a:endParaRP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endParaRPr lang="en-US" sz="1700">
                <a:solidFill>
                  <a:srgbClr val="191919"/>
                </a:solidFill>
                <a:latin typeface="Gotham"/>
                <a:ea typeface="Gotham"/>
                <a:cs typeface="Gotham"/>
                <a:sym typeface="Gotham"/>
              </a:endParaRP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43"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descr="Screenshot 2026-03-26 012105"/>
          <p:cNvPicPr>
            <a:picLocks noChangeAspect="1"/>
          </p:cNvPicPr>
          <p:nvPr/>
        </p:nvPicPr>
        <p:blipFill>
          <a:blip r:embed="rId3"/>
          <a:stretch>
            <a:fillRect/>
          </a:stretch>
        </p:blipFill>
        <p:spPr>
          <a:xfrm>
            <a:off x="2743200" y="1904365"/>
            <a:ext cx="14155420" cy="629983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35588" y="7321525"/>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9</a:t>
              </a:r>
              <a:endParaRPr lang="en-US" sz="2700">
                <a:solidFill>
                  <a:srgbClr val="FFFEFE"/>
                </a:solidFill>
                <a:latin typeface="Gotham"/>
                <a:ea typeface="Gotham"/>
                <a:cs typeface="Gotham"/>
                <a:sym typeface="Gotham"/>
              </a:endParaRPr>
            </a:p>
          </p:txBody>
        </p:sp>
      </p:grpSp>
      <p:grpSp>
        <p:nvGrpSpPr>
          <p:cNvPr id="8" name="Group 8"/>
          <p:cNvGrpSpPr/>
          <p:nvPr/>
        </p:nvGrpSpPr>
        <p:grpSpPr>
          <a:xfrm>
            <a:off x="977741" y="3315742"/>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endParaRPr lang="en-US" sz="1700">
                <a:solidFill>
                  <a:srgbClr val="191919"/>
                </a:solidFill>
                <a:latin typeface="Gotham"/>
                <a:ea typeface="Gotham"/>
                <a:cs typeface="Gotham"/>
                <a:sym typeface="Gotham"/>
              </a:endParaRPr>
            </a:p>
          </p:txBody>
        </p:sp>
      </p:grpSp>
      <p:grpSp>
        <p:nvGrpSpPr>
          <p:cNvPr id="11" name="Group 11"/>
          <p:cNvGrpSpPr/>
          <p:nvPr/>
        </p:nvGrpSpPr>
        <p:grpSpPr>
          <a:xfrm>
            <a:off x="977741" y="1982349"/>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endParaRPr lang="en-US" sz="1700">
                <a:solidFill>
                  <a:srgbClr val="191919"/>
                </a:solidFill>
                <a:latin typeface="Gotham"/>
                <a:ea typeface="Gotham"/>
                <a:cs typeface="Gotham"/>
                <a:sym typeface="Gotham"/>
              </a:endParaRPr>
            </a:p>
          </p:txBody>
        </p:sp>
      </p:grpSp>
      <p:grpSp>
        <p:nvGrpSpPr>
          <p:cNvPr id="14" name="Group 14"/>
          <p:cNvGrpSpPr/>
          <p:nvPr/>
        </p:nvGrpSpPr>
        <p:grpSpPr>
          <a:xfrm>
            <a:off x="977741" y="3983373"/>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endParaRPr lang="en-US" sz="1700">
                <a:solidFill>
                  <a:srgbClr val="191919"/>
                </a:solidFill>
                <a:latin typeface="Gotham"/>
                <a:ea typeface="Gotham"/>
                <a:cs typeface="Gotham"/>
                <a:sym typeface="Gotham"/>
              </a:endParaRPr>
            </a:p>
          </p:txBody>
        </p:sp>
      </p:grpSp>
      <p:grpSp>
        <p:nvGrpSpPr>
          <p:cNvPr id="17" name="Group 17"/>
          <p:cNvGrpSpPr/>
          <p:nvPr/>
        </p:nvGrpSpPr>
        <p:grpSpPr>
          <a:xfrm>
            <a:off x="977741" y="264811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endParaRPr lang="en-US" sz="1700">
                <a:solidFill>
                  <a:srgbClr val="191919"/>
                </a:solidFill>
                <a:latin typeface="Gotham"/>
                <a:ea typeface="Gotham"/>
                <a:cs typeface="Gotham"/>
                <a:sym typeface="Gotham"/>
              </a:endParaRPr>
            </a:p>
          </p:txBody>
        </p:sp>
      </p:grpSp>
      <p:grpSp>
        <p:nvGrpSpPr>
          <p:cNvPr id="20" name="Group 20"/>
          <p:cNvGrpSpPr/>
          <p:nvPr/>
        </p:nvGrpSpPr>
        <p:grpSpPr>
          <a:xfrm>
            <a:off x="977741" y="5318634"/>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endParaRPr lang="en-US" sz="1700">
                <a:solidFill>
                  <a:srgbClr val="191919"/>
                </a:solidFill>
                <a:latin typeface="Gotham"/>
                <a:ea typeface="Gotham"/>
                <a:cs typeface="Gotham"/>
                <a:sym typeface="Gotham"/>
              </a:endParaRPr>
            </a:p>
          </p:txBody>
        </p:sp>
      </p:grpSp>
      <p:grpSp>
        <p:nvGrpSpPr>
          <p:cNvPr id="23" name="Group 23"/>
          <p:cNvGrpSpPr/>
          <p:nvPr/>
        </p:nvGrpSpPr>
        <p:grpSpPr>
          <a:xfrm>
            <a:off x="977741" y="465100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endParaRPr lang="en-US" sz="1700">
                <a:solidFill>
                  <a:srgbClr val="191919"/>
                </a:solidFill>
                <a:latin typeface="Gotham"/>
                <a:ea typeface="Gotham"/>
                <a:cs typeface="Gotham"/>
                <a:sym typeface="Gotham"/>
              </a:endParaRPr>
            </a:p>
          </p:txBody>
        </p:sp>
      </p:grpSp>
      <p:grpSp>
        <p:nvGrpSpPr>
          <p:cNvPr id="26" name="Group 26"/>
          <p:cNvGrpSpPr/>
          <p:nvPr/>
        </p:nvGrpSpPr>
        <p:grpSpPr>
          <a:xfrm>
            <a:off x="977741" y="5986264"/>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endParaRPr lang="en-US" sz="1700">
                <a:solidFill>
                  <a:srgbClr val="191919"/>
                </a:solidFill>
                <a:latin typeface="Gotham"/>
                <a:ea typeface="Gotham"/>
                <a:cs typeface="Gotham"/>
                <a:sym typeface="Gotham"/>
              </a:endParaRPr>
            </a:p>
          </p:txBody>
        </p:sp>
      </p:grpSp>
      <p:grpSp>
        <p:nvGrpSpPr>
          <p:cNvPr id="29" name="Group 29"/>
          <p:cNvGrpSpPr/>
          <p:nvPr/>
        </p:nvGrpSpPr>
        <p:grpSpPr>
          <a:xfrm>
            <a:off x="977741" y="6653894"/>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endParaRPr lang="en-US" sz="1700">
                <a:solidFill>
                  <a:srgbClr val="191919"/>
                </a:solidFill>
                <a:latin typeface="Gotham"/>
                <a:ea typeface="Gotham"/>
                <a:cs typeface="Gotham"/>
                <a:sym typeface="Gotham"/>
              </a:endParaRPr>
            </a:p>
          </p:txBody>
        </p:sp>
      </p:grpSp>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
        <p:nvSpPr>
          <p:cNvPr id="2" name="TextBox 1"/>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 name="TextBox 3"/>
          <p:cNvSpPr txBox="1"/>
          <p:nvPr/>
        </p:nvSpPr>
        <p:spPr>
          <a:xfrm>
            <a:off x="2286000" y="1479920"/>
            <a:ext cx="13035873" cy="6863417"/>
          </a:xfrm>
          <a:prstGeom prst="rect">
            <a:avLst/>
          </a:prstGeom>
          <a:noFill/>
        </p:spPr>
        <p:txBody>
          <a:bodyPr wrap="square">
            <a:spAutoFit/>
          </a:bodyPr>
          <a:lstStyle/>
          <a:p>
            <a:pPr>
              <a:buNone/>
            </a:pPr>
            <a:r>
              <a:rPr lang="en-US" sz="4400" b="1" dirty="0"/>
              <a:t>Advantages</a:t>
            </a:r>
            <a:endParaRPr lang="en-US" sz="4400" dirty="0"/>
          </a:p>
          <a:p>
            <a:pPr>
              <a:buNone/>
            </a:pPr>
            <a:r>
              <a:rPr lang="en-US" sz="4400" dirty="0"/>
              <a:t>• Automated membership management</a:t>
            </a:r>
            <a:br>
              <a:rPr lang="en-US" sz="4400" dirty="0"/>
            </a:br>
            <a:r>
              <a:rPr lang="en-US" sz="4400" dirty="0"/>
              <a:t>• Easy subscription plan handling</a:t>
            </a:r>
            <a:br>
              <a:rPr lang="en-US" sz="4400" dirty="0"/>
            </a:br>
            <a:r>
              <a:rPr lang="en-US" sz="4400" dirty="0"/>
              <a:t>• Improved data accuracy</a:t>
            </a:r>
            <a:br>
              <a:rPr lang="en-US" sz="4400" dirty="0"/>
            </a:br>
            <a:r>
              <a:rPr lang="en-US" sz="4400" dirty="0"/>
              <a:t>• User-friendly interface</a:t>
            </a:r>
            <a:br>
              <a:rPr lang="en-US" sz="4400" dirty="0"/>
            </a:br>
            <a:r>
              <a:rPr lang="en-US" sz="4400" dirty="0"/>
              <a:t>• Time-saving system</a:t>
            </a:r>
            <a:endParaRPr lang="en-US" sz="4400" dirty="0"/>
          </a:p>
          <a:p>
            <a:pPr>
              <a:buNone/>
            </a:pPr>
            <a:r>
              <a:rPr lang="en-US" sz="4400" b="1" dirty="0"/>
              <a:t>Limitations</a:t>
            </a:r>
            <a:endParaRPr lang="en-US" sz="4400" dirty="0"/>
          </a:p>
          <a:p>
            <a:pPr>
              <a:buNone/>
            </a:pPr>
            <a:r>
              <a:rPr lang="en-US" sz="4400" dirty="0"/>
              <a:t>• Requires internet connection</a:t>
            </a:r>
            <a:br>
              <a:rPr lang="en-US" sz="4400" dirty="0"/>
            </a:br>
            <a:r>
              <a:rPr lang="en-US" sz="4400" dirty="0"/>
              <a:t>• Initial setup required</a:t>
            </a:r>
            <a:br>
              <a:rPr lang="en-US" sz="4400" dirty="0"/>
            </a:br>
            <a:r>
              <a:rPr lang="en-US" sz="4400" dirty="0"/>
              <a:t>• Limited features without payment gateway integration</a:t>
            </a:r>
            <a:endParaRPr lang="en-US" sz="4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1">
              <a:extLst>
                <a:ext uri="{96DAC541-7B7A-43D3-8B79-37D633B846F1}">
                  <asvg:svgBlip xmlns:asvg="http://schemas.microsoft.com/office/drawing/2016/SVG/main" r:embed="rId2"/>
                </a:ext>
              </a:extLst>
            </a:blip>
            <a:stretch>
              <a:fillRect/>
            </a:stretch>
          </a:blipFill>
        </p:spPr>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50"/>
              </a:lnSpc>
            </a:pPr>
            <a:r>
              <a:rPr lang="en-US" sz="11155" b="1" i="1" dirty="0">
                <a:solidFill>
                  <a:srgbClr val="191919"/>
                </a:solidFill>
                <a:latin typeface="Gotham Bold Italics" panose="02000000000000000000"/>
                <a:ea typeface="Gotham Bold Italics" panose="02000000000000000000"/>
                <a:cs typeface="Gotham Bold Italics" panose="02000000000000000000"/>
                <a:sym typeface="Gotham Bold Italics" panose="02000000000000000000"/>
              </a:rPr>
              <a:t>Thank you</a:t>
            </a:r>
            <a:endParaRPr lang="en-US" sz="11155" b="1" i="1" dirty="0">
              <a:solidFill>
                <a:srgbClr val="191919"/>
              </a:solidFill>
              <a:latin typeface="Gotham Bold Italics" panose="02000000000000000000"/>
              <a:ea typeface="Gotham Bold Italics" panose="02000000000000000000"/>
              <a:cs typeface="Gotham Bold Italics" panose="02000000000000000000"/>
              <a:sym typeface="Gotham Bold Italics" panose="02000000000000000000"/>
            </a:endParaRP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60"/>
                </a:lnSpc>
              </a:p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3544</Words>
  <Application>WPS Presentation</Application>
  <PresentationFormat>Custom</PresentationFormat>
  <Paragraphs>428</Paragraphs>
  <Slides>15</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15</vt:i4>
      </vt:variant>
    </vt:vector>
  </HeadingPairs>
  <TitlesOfParts>
    <vt:vector size="27" baseType="lpstr">
      <vt:lpstr>Arial</vt:lpstr>
      <vt:lpstr>SimSun</vt:lpstr>
      <vt:lpstr>Wingdings</vt:lpstr>
      <vt:lpstr>Cambria</vt:lpstr>
      <vt:lpstr>Bookman Old Style</vt:lpstr>
      <vt:lpstr>Times New Roman</vt:lpstr>
      <vt:lpstr>Gotham</vt:lpstr>
      <vt:lpstr>Gotham Bold Italics</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HP</dc:creator>
  <cp:lastModifiedBy>HP</cp:lastModifiedBy>
  <cp:revision>15</cp:revision>
  <dcterms:created xsi:type="dcterms:W3CDTF">2006-08-16T00:00:00Z</dcterms:created>
  <dcterms:modified xsi:type="dcterms:W3CDTF">2026-03-25T19:52:34Z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9F59EFAE0FE44AB59163DD56FB2A684F_12</vt:lpwstr>
  </property>
  <property fmtid="{D5CDD505-2E9C-101B-9397-08002B2CF9AE}" pid="3" name="KSOProductBuildVer">
    <vt:lpwstr>1033-12.1.0.25242</vt:lpwstr>
  </property>
</Properties>
</file>