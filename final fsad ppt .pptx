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1" r:id="rId15"/>
    <p:sldId id="273" r:id="rId16"/>
    <p:sldId id="270" r:id="rId17"/>
    <p:sldId id="265" r:id="rId18"/>
  </p:sldIdLst>
  <p:sldSz cx="18288000" cy="10287000"/>
  <p:notesSz cx="6858000" cy="9144000"/>
  <p:embeddedFontLst>
    <p:embeddedFont>
      <p:font typeface="Bookman Old Style" panose="02050604050505020204" pitchFamily="18" charset="0"/>
      <p:regular r:id="rId20"/>
      <p:bold r:id="rId21"/>
      <p:italic r:id="rId22"/>
      <p:boldItalic r:id="rId23"/>
    </p:embeddedFont>
    <p:embeddedFont>
      <p:font typeface="Cambria" panose="02040503050406030204" pitchFamily="18" charset="0"/>
      <p:regular r:id="rId24"/>
      <p:bold r:id="rId25"/>
      <p:italic r:id="rId26"/>
      <p:boldItalic r:id="rId27"/>
    </p:embeddedFont>
    <p:embeddedFont>
      <p:font typeface="Gotham" panose="020B0604020202020204" charset="0"/>
      <p:regular r:id="rId28"/>
    </p:embeddedFont>
    <p:embeddedFont>
      <p:font typeface="Gotham Bold Italics"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29" y="-2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di vijay" userId="bb916c1ef1113dcd" providerId="LiveId" clId="{D0FF63A6-A46E-4995-8870-72D2CCC716B3}"/>
    <pc:docChg chg="modSld">
      <pc:chgData name="Gadi vijay" userId="bb916c1ef1113dcd" providerId="LiveId" clId="{D0FF63A6-A46E-4995-8870-72D2CCC716B3}" dt="2026-05-05T18:10:50.639" v="8" actId="14100"/>
      <pc:docMkLst>
        <pc:docMk/>
      </pc:docMkLst>
      <pc:sldChg chg="modSp mod">
        <pc:chgData name="Gadi vijay" userId="bb916c1ef1113dcd" providerId="LiveId" clId="{D0FF63A6-A46E-4995-8870-72D2CCC716B3}" dt="2026-05-05T18:08:42.962" v="2" actId="20577"/>
        <pc:sldMkLst>
          <pc:docMk/>
          <pc:sldMk cId="0" sldId="258"/>
        </pc:sldMkLst>
        <pc:spChg chg="mod">
          <ac:chgData name="Gadi vijay" userId="bb916c1ef1113dcd" providerId="LiveId" clId="{D0FF63A6-A46E-4995-8870-72D2CCC716B3}" dt="2026-05-05T18:08:42.962" v="2" actId="20577"/>
          <ac:spMkLst>
            <pc:docMk/>
            <pc:sldMk cId="0" sldId="258"/>
            <ac:spMk id="48" creationId="{BDE2941C-1504-53F9-99B2-48002CA9A345}"/>
          </ac:spMkLst>
        </pc:spChg>
      </pc:sldChg>
      <pc:sldChg chg="modSp mod">
        <pc:chgData name="Gadi vijay" userId="bb916c1ef1113dcd" providerId="LiveId" clId="{D0FF63A6-A46E-4995-8870-72D2CCC716B3}" dt="2026-05-05T18:10:50.639" v="8" actId="14100"/>
        <pc:sldMkLst>
          <pc:docMk/>
          <pc:sldMk cId="0" sldId="261"/>
        </pc:sldMkLst>
        <pc:spChg chg="mod">
          <ac:chgData name="Gadi vijay" userId="bb916c1ef1113dcd" providerId="LiveId" clId="{D0FF63A6-A46E-4995-8870-72D2CCC716B3}" dt="2026-05-05T18:10:50.639" v="8" actId="14100"/>
          <ac:spMkLst>
            <pc:docMk/>
            <pc:sldMk cId="0" sldId="261"/>
            <ac:spMk id="43" creationId="{25F9D4B0-38FE-DBA4-164D-1745B68379A5}"/>
          </ac:spMkLst>
        </pc:spChg>
      </pc:sldChg>
      <pc:sldChg chg="modSp mod">
        <pc:chgData name="Gadi vijay" userId="bb916c1ef1113dcd" providerId="LiveId" clId="{D0FF63A6-A46E-4995-8870-72D2CCC716B3}" dt="2026-05-05T18:09:32.744" v="5" actId="20577"/>
        <pc:sldMkLst>
          <pc:docMk/>
          <pc:sldMk cId="0" sldId="263"/>
        </pc:sldMkLst>
        <pc:spChg chg="mod">
          <ac:chgData name="Gadi vijay" userId="bb916c1ef1113dcd" providerId="LiveId" clId="{D0FF63A6-A46E-4995-8870-72D2CCC716B3}" dt="2026-05-05T18:09:32.744" v="5" actId="20577"/>
          <ac:spMkLst>
            <pc:docMk/>
            <pc:sldMk cId="0" sldId="263"/>
            <ac:spMk id="48" creationId="{26E9F5F9-CCF8-6F05-4C01-034C88D7529E}"/>
          </ac:spMkLst>
        </pc:spChg>
      </pc:sldChg>
      <pc:sldChg chg="modSp mod">
        <pc:chgData name="Gadi vijay" userId="bb916c1ef1113dcd" providerId="LiveId" clId="{D0FF63A6-A46E-4995-8870-72D2CCC716B3}" dt="2026-05-05T18:09:41.258" v="6" actId="20577"/>
        <pc:sldMkLst>
          <pc:docMk/>
          <pc:sldMk cId="0" sldId="264"/>
        </pc:sldMkLst>
        <pc:spChg chg="mod">
          <ac:chgData name="Gadi vijay" userId="bb916c1ef1113dcd" providerId="LiveId" clId="{D0FF63A6-A46E-4995-8870-72D2CCC716B3}" dt="2026-05-05T18:09:41.258" v="6" actId="20577"/>
          <ac:spMkLst>
            <pc:docMk/>
            <pc:sldMk cId="0" sldId="264"/>
            <ac:spMk id="44" creationId="{9304C197-EAC7-7A26-FAED-ED7302DBEC6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A20FDD-3DD2-48D3-AC6D-402E925252A1}" type="datetimeFigureOut">
              <a:rPr lang="en-IN" smtClean="0"/>
              <a:t>06-05-2026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DE1857-E655-441A-971C-D59D4098DEB0}" type="slidenum">
              <a:rPr lang="en-IN" smtClean="0"/>
              <a:t>‹#›</a:t>
            </a:fld>
            <a:endParaRPr lang="en-IN"/>
          </a:p>
        </p:txBody>
      </p:sp>
    </p:spTree>
    <p:extLst>
      <p:ext uri="{BB962C8B-B14F-4D97-AF65-F5344CB8AC3E}">
        <p14:creationId xmlns:p14="http://schemas.microsoft.com/office/powerpoint/2010/main" val="248420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DE1857-E655-441A-971C-D59D4098DEB0}" type="slidenum">
              <a:rPr lang="en-IN" smtClean="0"/>
              <a:t>16</a:t>
            </a:fld>
            <a:endParaRPr lang="en-IN"/>
          </a:p>
        </p:txBody>
      </p:sp>
    </p:spTree>
    <p:extLst>
      <p:ext uri="{BB962C8B-B14F-4D97-AF65-F5344CB8AC3E}">
        <p14:creationId xmlns:p14="http://schemas.microsoft.com/office/powerpoint/2010/main" val="1358249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799772" y="16492"/>
            <a:ext cx="4131816" cy="1784622"/>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IN" sz="3200" b="1" dirty="0">
                <a:solidFill>
                  <a:srgbClr val="0033CC"/>
                </a:solidFill>
                <a:latin typeface="Times New Roman" panose="02020603050405020304" pitchFamily="18" charset="0"/>
                <a:cs typeface="Times New Roman" panose="02020603050405020304" pitchFamily="18" charset="0"/>
              </a:rPr>
              <a:t>JOB PORTAL MANAGEMENT SYSTEM</a:t>
            </a:r>
            <a:r>
              <a:rPr lang="en-IN" sz="3200" dirty="0"/>
              <a:t> </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 SAI MANIKANTA – VTU25937 – 23UECS0639</a:t>
            </a:r>
            <a:endParaRPr lang="en-IN"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Dr.Hemamalini</a:t>
            </a:r>
            <a:r>
              <a:rPr lang="en-US" sz="3000" dirty="0">
                <a:latin typeface="Cambria" panose="02040503050406030204" pitchFamily="18" charset="0"/>
                <a:ea typeface="Cambria" panose="02040503050406030204" pitchFamily="18" charset="0"/>
              </a:rPr>
              <a:t>-Assistant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t>SDG: SDG No – 9: Industry, Innovation, and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3880723"/>
          </a:xfrm>
          <a:prstGeom prst="rect">
            <a:avLst/>
          </a:prstGeom>
          <a:noFill/>
        </p:spPr>
        <p:txBody>
          <a:bodyPr wrap="square" rtlCol="0">
            <a:spAutoFit/>
          </a:bodyPr>
          <a:lstStyle/>
          <a:p>
            <a:pPr marL="457200" indent="-457200">
              <a:buFont typeface="Arial" panose="020B0604020202020204" pitchFamily="34" charset="0"/>
              <a:buChar char="•"/>
            </a:pPr>
            <a:r>
              <a:rPr lang="en-US" sz="2800" b="1" dirty="0"/>
              <a:t>Background of the problem</a:t>
            </a:r>
          </a:p>
          <a:p>
            <a:pPr marL="457200" indent="-457200">
              <a:buFont typeface="Arial" panose="020B0604020202020204" pitchFamily="34" charset="0"/>
              <a:buChar char="•"/>
            </a:pPr>
            <a:r>
              <a:rPr lang="en-US" sz="2800" dirty="0"/>
              <a:t>Traditional job searching and recruitment processes are often manual, time-consuming, and inefficient.</a:t>
            </a:r>
            <a:br>
              <a:rPr lang="en-US" sz="2800" dirty="0"/>
            </a:br>
            <a:r>
              <a:rPr lang="en-US" sz="2800" dirty="0"/>
              <a:t>There is a need for a centralized digital platform to connect job seekers and employers.</a:t>
            </a:r>
          </a:p>
          <a:p>
            <a:pPr marL="457200" indent="-457200">
              <a:buFont typeface="Arial" panose="020B0604020202020204" pitchFamily="34" charset="0"/>
              <a:buChar char="•"/>
            </a:pPr>
            <a:endParaRPr lang="en-US" sz="2800" b="1" dirty="0"/>
          </a:p>
          <a:p>
            <a:pPr marL="457200" indent="-457200">
              <a:buFont typeface="Arial" panose="020B0604020202020204" pitchFamily="34" charset="0"/>
              <a:buChar char="•"/>
            </a:pPr>
            <a:r>
              <a:rPr lang="en-US" sz="2800" b="1" dirty="0"/>
              <a:t>Why this project is important</a:t>
            </a:r>
          </a:p>
          <a:p>
            <a:pPr marL="457200" indent="-457200">
              <a:buFont typeface="Arial" panose="020B0604020202020204" pitchFamily="34" charset="0"/>
              <a:buChar char="•"/>
            </a:pPr>
            <a:r>
              <a:rPr lang="en-US" sz="2800" dirty="0"/>
              <a:t>This system simplifies the hiring process by providing an organized platform for job posting and applications.</a:t>
            </a:r>
            <a:br>
              <a:rPr lang="en-US" sz="2800" dirty="0"/>
            </a:br>
            <a:r>
              <a:rPr lang="en-US" sz="2800" dirty="0"/>
              <a:t>It reduces effort, saves time, and improves accessibility for both recruiters and candidates.</a:t>
            </a:r>
          </a:p>
          <a:p>
            <a:pPr marL="457200" indent="-457200">
              <a:buFont typeface="Arial" panose="020B0604020202020204" pitchFamily="34" charset="0"/>
              <a:buChar char="•"/>
            </a:pPr>
            <a:endParaRPr lang="en-US" sz="2800" b="1" dirty="0"/>
          </a:p>
          <a:p>
            <a:pPr marL="457200" indent="-457200">
              <a:buFont typeface="Arial" panose="020B0604020202020204" pitchFamily="34" charset="0"/>
              <a:buChar char="•"/>
            </a:pPr>
            <a:r>
              <a:rPr lang="en-US" sz="2800" b="1" dirty="0"/>
              <a:t>Real-world relevance</a:t>
            </a:r>
          </a:p>
          <a:p>
            <a:pPr marL="457200" indent="-457200">
              <a:buFont typeface="Arial" panose="020B0604020202020204" pitchFamily="34" charset="0"/>
              <a:buChar char="•"/>
            </a:pPr>
            <a:r>
              <a:rPr lang="en-US" sz="2800" dirty="0"/>
              <a:t>Job portals are widely used in today’s digital world for recruitment across industries.</a:t>
            </a:r>
            <a:br>
              <a:rPr lang="en-US" sz="2800" dirty="0"/>
            </a:br>
            <a:r>
              <a:rPr lang="en-US" sz="2800" dirty="0"/>
              <a:t>This system reflects real-world platforms like LinkedIn and Indeed.</a:t>
            </a:r>
          </a:p>
          <a:p>
            <a:pPr marL="457200" indent="-457200">
              <a:buFont typeface="Arial" panose="020B0604020202020204" pitchFamily="34" charset="0"/>
              <a:buChar char="•"/>
            </a:pPr>
            <a:endParaRPr lang="en-US" sz="2800" b="1" dirty="0"/>
          </a:p>
          <a:p>
            <a:pPr marL="457200" indent="-457200">
              <a:buFont typeface="Arial" panose="020B0604020202020204" pitchFamily="34" charset="0"/>
              <a:buChar char="•"/>
            </a:pPr>
            <a:r>
              <a:rPr lang="en-US" sz="2800" b="1" dirty="0"/>
              <a:t>Brief overview of the system</a:t>
            </a:r>
          </a:p>
          <a:p>
            <a:pPr marL="457200" indent="-457200">
              <a:buFont typeface="Arial" panose="020B0604020202020204" pitchFamily="34" charset="0"/>
              <a:buChar char="•"/>
            </a:pPr>
            <a:r>
              <a:rPr lang="en-US" sz="2800" dirty="0"/>
              <a:t>The Job Portal Management System allows employers to post jobs and candidates to search and apply online.</a:t>
            </a:r>
            <a:br>
              <a:rPr lang="en-US" sz="2800" dirty="0"/>
            </a:br>
            <a:r>
              <a:rPr lang="en-US" sz="2800" dirty="0"/>
              <a:t>It manages user profiles, job listings, and application tracking in an efficient and user-friendly way.</a:t>
            </a:r>
            <a:endParaRPr lang="en-US" sz="2800" b="1"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6" name="Group 37">
            <a:extLst>
              <a:ext uri="{FF2B5EF4-FFF2-40B4-BE49-F238E27FC236}">
                <a16:creationId xmlns:a16="http://schemas.microsoft.com/office/drawing/2014/main" id="{E5F04D9D-308A-3183-6836-B0EC5388A6D1}"/>
              </a:ext>
            </a:extLst>
          </p:cNvPr>
          <p:cNvGrpSpPr/>
          <p:nvPr/>
        </p:nvGrpSpPr>
        <p:grpSpPr>
          <a:xfrm>
            <a:off x="14020800" y="-8142801"/>
            <a:ext cx="10994424" cy="10994424"/>
            <a:chOff x="0" y="0"/>
            <a:chExt cx="812800" cy="812800"/>
          </a:xfrm>
        </p:grpSpPr>
        <p:sp>
          <p:nvSpPr>
            <p:cNvPr id="7" name="Freeform 38">
              <a:extLst>
                <a:ext uri="{FF2B5EF4-FFF2-40B4-BE49-F238E27FC236}">
                  <a16:creationId xmlns:a16="http://schemas.microsoft.com/office/drawing/2014/main" id="{DD6C4498-CEE7-2D27-F0C3-97EBEC11E86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0" name="TextBox 39">
              <a:extLst>
                <a:ext uri="{FF2B5EF4-FFF2-40B4-BE49-F238E27FC236}">
                  <a16:creationId xmlns:a16="http://schemas.microsoft.com/office/drawing/2014/main" id="{2238B763-36E8-D0F8-087D-09B56E0E974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a:extLst>
              <a:ext uri="{FF2B5EF4-FFF2-40B4-BE49-F238E27FC236}">
                <a16:creationId xmlns:a16="http://schemas.microsoft.com/office/drawing/2014/main" id="{A8A7B8E9-D90B-1CF8-14D3-8D2483CAFC58}"/>
              </a:ext>
            </a:extLst>
          </p:cNvPr>
          <p:cNvSpPr txBox="1"/>
          <p:nvPr/>
        </p:nvSpPr>
        <p:spPr>
          <a:xfrm>
            <a:off x="0" y="121641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2157174"/>
          </a:xfrm>
          <a:prstGeom prst="rect">
            <a:avLst/>
          </a:prstGeom>
          <a:noFill/>
        </p:spPr>
        <p:txBody>
          <a:bodyPr wrap="square" rtlCol="0">
            <a:spAutoFit/>
          </a:bodyPr>
          <a:lstStyle/>
          <a:p>
            <a:endParaRPr lang="en-US" sz="2800" dirty="0"/>
          </a:p>
          <a:p>
            <a:endParaRPr lang="en-US" sz="2800" dirty="0"/>
          </a:p>
          <a:p>
            <a:pPr marL="457200" indent="-457200">
              <a:buFont typeface="Arial" panose="020B0604020202020204" pitchFamily="34" charset="0"/>
              <a:buChar char="•"/>
            </a:pPr>
            <a:r>
              <a:rPr lang="en-US" sz="2800" dirty="0"/>
              <a:t>In today’s digital era, job seekers often face difficulty in finding suitable job opportunities due to scattered information across multiple platforms, making the process confusing and time-consuming. Employers also encounter challenges in managing job postings and selecting the right candidates efficiently using traditional or manual methods. The lack of a centralized system creates a gap between job providers and applicants, leading to missed opportunities and delays in recruitment. Many existing platforms are either complex, not user-friendly, or do not provide complete functionality for both users. This results in inefficient communication and poor management of applications. Job seekers may miss relevant openings, while employers may fail to reach qualified candidates. There is a growing need for a system that simplifies and organizes the recruitment process. A unified platform can reduce effort and improve accessibility for all users.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3" name="Group 37">
            <a:extLst>
              <a:ext uri="{FF2B5EF4-FFF2-40B4-BE49-F238E27FC236}">
                <a16:creationId xmlns:a16="http://schemas.microsoft.com/office/drawing/2014/main" id="{2FF1B020-E599-4243-0745-94658C4B75D2}"/>
              </a:ext>
            </a:extLst>
          </p:cNvPr>
          <p:cNvGrpSpPr/>
          <p:nvPr/>
        </p:nvGrpSpPr>
        <p:grpSpPr>
          <a:xfrm>
            <a:off x="14020800" y="-8142801"/>
            <a:ext cx="10994424" cy="10994424"/>
            <a:chOff x="0" y="0"/>
            <a:chExt cx="812800" cy="812800"/>
          </a:xfrm>
        </p:grpSpPr>
        <p:sp>
          <p:nvSpPr>
            <p:cNvPr id="4" name="Freeform 38">
              <a:extLst>
                <a:ext uri="{FF2B5EF4-FFF2-40B4-BE49-F238E27FC236}">
                  <a16:creationId xmlns:a16="http://schemas.microsoft.com/office/drawing/2014/main" id="{8D5722D6-1AB3-AFC3-50FD-97E032A64A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a:extLst>
                <a:ext uri="{FF2B5EF4-FFF2-40B4-BE49-F238E27FC236}">
                  <a16:creationId xmlns:a16="http://schemas.microsoft.com/office/drawing/2014/main" id="{8C494B58-803A-A1A0-E7D1-2C6625F9E9EF}"/>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a:extLst>
              <a:ext uri="{FF2B5EF4-FFF2-40B4-BE49-F238E27FC236}">
                <a16:creationId xmlns:a16="http://schemas.microsoft.com/office/drawing/2014/main" id="{CF58B49F-CF64-89F9-D6CB-EEBCFCA5C762}"/>
              </a:ext>
            </a:extLst>
          </p:cNvPr>
          <p:cNvGrpSpPr/>
          <p:nvPr/>
        </p:nvGrpSpPr>
        <p:grpSpPr>
          <a:xfrm>
            <a:off x="14020800" y="-8142801"/>
            <a:ext cx="10994424" cy="10994424"/>
            <a:chOff x="0" y="0"/>
            <a:chExt cx="812800" cy="812800"/>
          </a:xfrm>
        </p:grpSpPr>
        <p:sp>
          <p:nvSpPr>
            <p:cNvPr id="4" name="Freeform 38">
              <a:extLst>
                <a:ext uri="{FF2B5EF4-FFF2-40B4-BE49-F238E27FC236}">
                  <a16:creationId xmlns:a16="http://schemas.microsoft.com/office/drawing/2014/main" id="{BFE0BB44-45F2-A4A6-9B89-0E8576D618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a:extLst>
                <a:ext uri="{FF2B5EF4-FFF2-40B4-BE49-F238E27FC236}">
                  <a16:creationId xmlns:a16="http://schemas.microsoft.com/office/drawing/2014/main" id="{B7E50780-1EA1-5613-9DE5-1713C4D8E91F}"/>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6" name="TextBox 5">
            <a:extLst>
              <a:ext uri="{FF2B5EF4-FFF2-40B4-BE49-F238E27FC236}">
                <a16:creationId xmlns:a16="http://schemas.microsoft.com/office/drawing/2014/main" id="{9C6502AF-CCC8-31E6-FA60-391BF4CC2DF4}"/>
              </a:ext>
            </a:extLst>
          </p:cNvPr>
          <p:cNvSpPr txBox="1"/>
          <p:nvPr/>
        </p:nvSpPr>
        <p:spPr>
          <a:xfrm>
            <a:off x="2367049" y="1883196"/>
            <a:ext cx="15082325" cy="7417415"/>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9" name="Rectangle 3">
            <a:extLst>
              <a:ext uri="{FF2B5EF4-FFF2-40B4-BE49-F238E27FC236}">
                <a16:creationId xmlns:a16="http://schemas.microsoft.com/office/drawing/2014/main" id="{C89A6E83-C027-CB57-5A95-895796742E93}"/>
              </a:ext>
            </a:extLst>
          </p:cNvPr>
          <p:cNvSpPr>
            <a:spLocks noChangeArrowheads="1"/>
          </p:cNvSpPr>
          <p:nvPr/>
        </p:nvSpPr>
        <p:spPr bwMode="auto">
          <a:xfrm rot="10800000" flipV="1">
            <a:off x="2189647" y="693527"/>
            <a:ext cx="16098302" cy="7417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14400" lvl="1" indent="-457200" eaLnBrk="0" fontAlgn="base" hangingPunct="0">
              <a:spcBef>
                <a:spcPct val="0"/>
              </a:spcBef>
              <a:spcAft>
                <a:spcPct val="0"/>
              </a:spcAft>
              <a:buFont typeface="Arial" panose="020B0604020202020204" pitchFamily="34" charset="0"/>
              <a:buChar char="•"/>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914400" lvl="1" indent="-457200" eaLnBrk="0" fontAlgn="base" hangingPunct="0">
              <a:spcBef>
                <a:spcPct val="0"/>
              </a:spcBef>
              <a:spcAft>
                <a:spcPct val="0"/>
              </a:spcAft>
              <a:buFont typeface="Arial" panose="020B0604020202020204" pitchFamily="34" charset="0"/>
              <a:buChar char="•"/>
            </a:pPr>
            <a:endParaRPr lang="en-US" altLang="en-US" sz="2800" dirty="0">
              <a:latin typeface="Arial" panose="020B0604020202020204" pitchFamily="34" charset="0"/>
            </a:endParaRPr>
          </a:p>
          <a:p>
            <a:pPr marL="914400" lvl="1" indent="-457200" eaLnBrk="0" fontAlgn="base" hangingPunct="0">
              <a:spcBef>
                <a:spcPct val="0"/>
              </a:spcBef>
              <a:spcAft>
                <a:spcPct val="0"/>
              </a:spcAft>
              <a:buFont typeface="Arial" panose="020B0604020202020204" pitchFamily="34" charset="0"/>
              <a:buChar char="•"/>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914400" lvl="1" indent="-457200" eaLnBrk="0" fontAlgn="base" hangingPunct="0">
              <a:spcBef>
                <a:spcPct val="0"/>
              </a:spcBef>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Arial" panose="020B0604020202020204" pitchFamily="34" charset="0"/>
              </a:rPr>
              <a:t>To develop a centralized platform that connects job seekers and employer</a:t>
            </a:r>
          </a:p>
          <a:p>
            <a:pPr marL="914400" lvl="1" indent="-457200" eaLnBrk="0" fontAlgn="base" hangingPunct="0">
              <a:spcBef>
                <a:spcPct val="0"/>
              </a:spcBef>
              <a:spcAft>
                <a:spcPct val="0"/>
              </a:spcAft>
              <a:buFont typeface="Arial" panose="020B0604020202020204" pitchFamily="34" charset="0"/>
              <a:buChar char="•"/>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914400" lvl="1" indent="-457200" eaLnBrk="0" fontAlgn="base" hangingPunct="0">
              <a:spcBef>
                <a:spcPct val="0"/>
              </a:spcBef>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Arial" panose="020B0604020202020204" pitchFamily="34" charset="0"/>
              </a:rPr>
              <a:t> This system reduces the gap between candidates and recruiters.</a:t>
            </a:r>
          </a:p>
          <a:p>
            <a:pPr marL="914400" lvl="1" indent="-457200" eaLnBrk="0" fontAlgn="base" hangingPunct="0">
              <a:spcBef>
                <a:spcPct val="0"/>
              </a:spcBef>
              <a:spcAft>
                <a:spcPct val="0"/>
              </a:spcAft>
              <a:buFont typeface="Arial" panose="020B0604020202020204" pitchFamily="34" charset="0"/>
              <a:buChar char="•"/>
            </a:pPr>
            <a:endParaRPr lang="en-US" altLang="en-US" sz="2800" dirty="0">
              <a:latin typeface="Arial" panose="020B0604020202020204" pitchFamily="34" charset="0"/>
            </a:endParaRPr>
          </a:p>
          <a:p>
            <a:pPr marL="914400" lvl="1" indent="-457200" eaLnBrk="0" fontAlgn="base" hangingPunct="0">
              <a:spcBef>
                <a:spcPct val="0"/>
              </a:spcBef>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Arial" panose="020B0604020202020204" pitchFamily="34" charset="0"/>
              </a:rPr>
              <a:t>Users can find jobs based on their skills and preferences.</a:t>
            </a:r>
          </a:p>
          <a:p>
            <a:pPr lvl="1" eaLnBrk="0" fontAlgn="base" hangingPunct="0">
              <a:spcBef>
                <a:spcPct val="0"/>
              </a:spcBef>
              <a:spcAft>
                <a:spcPct val="0"/>
              </a:spcAft>
            </a:pPr>
            <a:endParaRPr lang="en-US" altLang="en-US" sz="2800" dirty="0">
              <a:latin typeface="Arial" panose="020B0604020202020204" pitchFamily="34" charset="0"/>
            </a:endParaRPr>
          </a:p>
          <a:p>
            <a:pPr marL="914400" lvl="1" indent="-457200" eaLnBrk="0" fontAlgn="base" hangingPunct="0">
              <a:spcBef>
                <a:spcPct val="0"/>
              </a:spcBef>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Arial" panose="020B0604020202020204" pitchFamily="34" charset="0"/>
              </a:rPr>
              <a:t>To allow employers to post job vacancies and manage applications.</a:t>
            </a:r>
          </a:p>
          <a:p>
            <a:pPr lvl="1" eaLnBrk="0" fontAlgn="base" hangingPunct="0">
              <a:spcBef>
                <a:spcPct val="0"/>
              </a:spcBef>
              <a:spcAft>
                <a:spcPct val="0"/>
              </a:spcAft>
            </a:pPr>
            <a:endParaRPr lang="en-US" altLang="en-US" sz="2800" dirty="0">
              <a:latin typeface="Arial" panose="020B0604020202020204" pitchFamily="34" charset="0"/>
            </a:endParaRPr>
          </a:p>
          <a:p>
            <a:pPr marL="914400" lvl="1" indent="-457200" eaLnBrk="0" fontAlgn="base" hangingPunct="0">
              <a:spcBef>
                <a:spcPct val="0"/>
              </a:spcBef>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Arial" panose="020B0604020202020204" pitchFamily="34" charset="0"/>
              </a:rPr>
              <a:t>Recruiters can easily filter and select candidates</a:t>
            </a:r>
          </a:p>
          <a:p>
            <a:pPr lvl="1"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Arial" panose="020B0604020202020204" pitchFamily="34" charset="0"/>
              </a:rPr>
              <a:t>.</a:t>
            </a:r>
            <a:endParaRPr lang="en-US" altLang="en-US" sz="2800" dirty="0">
              <a:latin typeface="Arial" panose="020B0604020202020204" pitchFamily="34" charset="0"/>
            </a:endParaRPr>
          </a:p>
          <a:p>
            <a:pPr marL="914400" lvl="1" indent="-457200" eaLnBrk="0" fontAlgn="base" hangingPunct="0">
              <a:spcBef>
                <a:spcPct val="0"/>
              </a:spcBef>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Arial" panose="020B0604020202020204" pitchFamily="34" charset="0"/>
              </a:rPr>
              <a:t>To provide a user-friendly interface for all users.</a:t>
            </a:r>
          </a:p>
          <a:p>
            <a:pPr lvl="1" eaLnBrk="0" fontAlgn="base" hangingPunct="0">
              <a:spcBef>
                <a:spcPct val="0"/>
              </a:spcBef>
              <a:spcAft>
                <a:spcPct val="0"/>
              </a:spcAft>
            </a:pPr>
            <a:endParaRPr lang="en-US" altLang="en-US" sz="2800" dirty="0">
              <a:latin typeface="Arial" panose="020B0604020202020204" pitchFamily="34" charset="0"/>
            </a:endParaRPr>
          </a:p>
          <a:p>
            <a:pPr marL="914400" lvl="1" indent="-457200" eaLnBrk="0" fontAlgn="base" hangingPunct="0">
              <a:spcBef>
                <a:spcPct val="0"/>
              </a:spcBef>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Arial" panose="020B0604020202020204" pitchFamily="34" charset="0"/>
              </a:rPr>
              <a:t>The system is designed for easy navigation and accessibility.</a:t>
            </a:r>
            <a:br>
              <a:rPr kumimoji="0" lang="en-US" altLang="en-US" sz="2800" b="0" i="0" u="none" strike="noStrike" cap="none" normalizeH="0" baseline="0" dirty="0">
                <a:ln>
                  <a:noFill/>
                </a:ln>
                <a:solidFill>
                  <a:schemeClr val="tx1"/>
                </a:solidFill>
                <a:effectLst/>
                <a:latin typeface="Arial" panose="020B0604020202020204" pitchFamily="34" charset="0"/>
              </a:rPr>
            </a:b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E8F19716-1653-9AE0-442E-B3829A585B46}"/>
              </a:ext>
            </a:extLst>
          </p:cNvPr>
          <p:cNvSpPr txBox="1"/>
          <p:nvPr/>
        </p:nvSpPr>
        <p:spPr>
          <a:xfrm>
            <a:off x="2639503" y="1638300"/>
            <a:ext cx="14652622" cy="6124754"/>
          </a:xfrm>
          <a:prstGeom prst="rect">
            <a:avLst/>
          </a:prstGeom>
          <a:noFill/>
        </p:spPr>
        <p:txBody>
          <a:bodyPr wrap="square" rtlCol="0">
            <a:spAutoFit/>
          </a:bodyPr>
          <a:lstStyle/>
          <a:p>
            <a:r>
              <a:rPr lang="en-IN" sz="2800" b="1" dirty="0"/>
              <a:t>Solution Description &amp; Advantages</a:t>
            </a:r>
          </a:p>
          <a:p>
            <a:endParaRPr lang="en-US" sz="2800" b="1"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TextBox 45">
            <a:extLst>
              <a:ext uri="{FF2B5EF4-FFF2-40B4-BE49-F238E27FC236}">
                <a16:creationId xmlns:a16="http://schemas.microsoft.com/office/drawing/2014/main" id="{E7218D14-8F44-8040-8BFD-49A59591F527}"/>
              </a:ext>
            </a:extLst>
          </p:cNvPr>
          <p:cNvSpPr txBox="1"/>
          <p:nvPr/>
        </p:nvSpPr>
        <p:spPr>
          <a:xfrm>
            <a:off x="25879" y="4004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a:extLst>
              <a:ext uri="{FF2B5EF4-FFF2-40B4-BE49-F238E27FC236}">
                <a16:creationId xmlns:a16="http://schemas.microsoft.com/office/drawing/2014/main" id="{4F283DDE-1616-62AE-4C34-D40B631B4EC7}"/>
              </a:ext>
            </a:extLst>
          </p:cNvPr>
          <p:cNvGrpSpPr/>
          <p:nvPr/>
        </p:nvGrpSpPr>
        <p:grpSpPr>
          <a:xfrm>
            <a:off x="14020800" y="-8142801"/>
            <a:ext cx="10994424" cy="10994424"/>
            <a:chOff x="0" y="0"/>
            <a:chExt cx="812800" cy="812800"/>
          </a:xfrm>
        </p:grpSpPr>
        <p:sp>
          <p:nvSpPr>
            <p:cNvPr id="3" name="Freeform 38">
              <a:extLst>
                <a:ext uri="{FF2B5EF4-FFF2-40B4-BE49-F238E27FC236}">
                  <a16:creationId xmlns:a16="http://schemas.microsoft.com/office/drawing/2014/main" id="{1277AC33-DE92-DEAD-3684-F9E584FE7C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a:extLst>
                <a:ext uri="{FF2B5EF4-FFF2-40B4-BE49-F238E27FC236}">
                  <a16:creationId xmlns:a16="http://schemas.microsoft.com/office/drawing/2014/main" id="{56B25065-0B92-DE42-94C2-2ECB8CBB349C}"/>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5" name="Rectangle 1">
            <a:extLst>
              <a:ext uri="{FF2B5EF4-FFF2-40B4-BE49-F238E27FC236}">
                <a16:creationId xmlns:a16="http://schemas.microsoft.com/office/drawing/2014/main" id="{CDB8AC27-6829-AD1A-7292-C79D4B901123}"/>
              </a:ext>
            </a:extLst>
          </p:cNvPr>
          <p:cNvSpPr>
            <a:spLocks noChangeArrowheads="1"/>
          </p:cNvSpPr>
          <p:nvPr/>
        </p:nvSpPr>
        <p:spPr bwMode="auto">
          <a:xfrm>
            <a:off x="2209800" y="2057402"/>
            <a:ext cx="15723079" cy="726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The system provides a centralized online platform where job seekers and employers </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Arial" panose="020B0604020202020204" pitchFamily="34" charset="0"/>
              </a:rPr>
              <a:t>      can interact efficiently. </a:t>
            </a:r>
          </a:p>
          <a:p>
            <a:pPr marR="0" lvl="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It enables job seekers to search and apply for jobs reducing dependency on multiple sources.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Employers can post job vacancies and manage applications in an organized.</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The system solves the issue of scattered job information by bringing all opportunities into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Arial" panose="020B0604020202020204" pitchFamily="34" charset="0"/>
              </a:rPr>
              <a:t>      </a:t>
            </a:r>
            <a:r>
              <a:rPr kumimoji="0" lang="en-US" altLang="en-US" sz="2800" b="0" i="0" u="none" strike="noStrike" cap="none" normalizeH="0" baseline="0" dirty="0">
                <a:ln>
                  <a:noFill/>
                </a:ln>
                <a:solidFill>
                  <a:schemeClr val="tx1"/>
                </a:solidFill>
                <a:effectLst/>
                <a:latin typeface="Arial" panose="020B0604020202020204" pitchFamily="34" charset="0"/>
              </a:rPr>
              <a:t>one platform.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It reduces manual effort and paperwork involved in traditional recruitment methods.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The platform improves communication between candidates and recruiters through timely.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Compared to existing systems, it offers a simple and user-friendly interface for better usability.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2" name="TextBox 41">
            <a:extLst>
              <a:ext uri="{FF2B5EF4-FFF2-40B4-BE49-F238E27FC236}">
                <a16:creationId xmlns:a16="http://schemas.microsoft.com/office/drawing/2014/main" id="{A4B3B85F-0C7B-16B9-6D50-94A4DFD2D192}"/>
              </a:ext>
            </a:extLst>
          </p:cNvPr>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412027" y="1638300"/>
            <a:ext cx="15732974" cy="9140964"/>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1371600" lvl="2" indent="-457200">
              <a:buFont typeface="Arial" panose="020B0604020202020204" pitchFamily="34" charset="0"/>
              <a:buChar char="•"/>
            </a:pPr>
            <a:r>
              <a:rPr lang="en-US" sz="2800" b="1" dirty="0" err="1"/>
              <a:t>Input:</a:t>
            </a:r>
            <a:r>
              <a:rPr lang="en-US" sz="2800" dirty="0" err="1"/>
              <a:t>User</a:t>
            </a:r>
            <a:r>
              <a:rPr lang="en-US" sz="2800" dirty="0"/>
              <a:t> data such as job details, applications, and login information entered by job seekers, employers, and admin.</a:t>
            </a:r>
          </a:p>
          <a:p>
            <a:pPr marL="1371600" lvl="2" indent="-457200">
              <a:buFont typeface="Arial" panose="020B0604020202020204" pitchFamily="34" charset="0"/>
              <a:buChar char="•"/>
            </a:pPr>
            <a:r>
              <a:rPr lang="en-US" sz="2800" b="1" dirty="0" err="1"/>
              <a:t>Processing:</a:t>
            </a:r>
            <a:r>
              <a:rPr lang="en-US" sz="2800" dirty="0" err="1"/>
              <a:t>The</a:t>
            </a:r>
            <a:r>
              <a:rPr lang="en-US" sz="2800" dirty="0"/>
              <a:t> system processes requests through frontend and backend logic, including validation, authentication, and job matching.</a:t>
            </a:r>
            <a:endParaRPr lang="en-US" sz="2800" b="1" dirty="0"/>
          </a:p>
          <a:p>
            <a:pPr marL="1371600" lvl="2" indent="-457200">
              <a:buFont typeface="Arial" panose="020B0604020202020204" pitchFamily="34" charset="0"/>
              <a:buChar char="•"/>
            </a:pPr>
            <a:r>
              <a:rPr lang="en-US" sz="2800" b="1" dirty="0" err="1"/>
              <a:t>Database:</a:t>
            </a:r>
            <a:r>
              <a:rPr lang="en-US" sz="2800" dirty="0" err="1"/>
              <a:t>All</a:t>
            </a:r>
            <a:r>
              <a:rPr lang="en-US" sz="2800" dirty="0"/>
              <a:t> data is stored in a MySQL database including users, jobs, applications, companies, and resumes.</a:t>
            </a:r>
            <a:endParaRPr lang="en-US" sz="2800" b="1" dirty="0"/>
          </a:p>
          <a:p>
            <a:pPr marL="1371600" lvl="2" indent="-457200">
              <a:buFont typeface="Arial" panose="020B0604020202020204" pitchFamily="34" charset="0"/>
              <a:buChar char="•"/>
            </a:pPr>
            <a:r>
              <a:rPr lang="en-US" sz="2800" b="1" dirty="0" err="1"/>
              <a:t>Output:</a:t>
            </a:r>
            <a:r>
              <a:rPr lang="en-US" sz="2800" dirty="0" err="1"/>
              <a:t>The</a:t>
            </a:r>
            <a:r>
              <a:rPr lang="en-US" sz="2800" dirty="0"/>
              <a:t> system displays job listings, application status, and results to users through a user-friendly interface.</a:t>
            </a:r>
          </a:p>
          <a:p>
            <a:pPr lvl="2"/>
            <a:endParaRPr lang="en-US" sz="2800" b="1" dirty="0"/>
          </a:p>
          <a:p>
            <a:pPr marL="457200" indent="-457200">
              <a:buFontTx/>
              <a:buChar char="-"/>
            </a:pPr>
            <a:endParaRPr lang="en-IN" sz="2800" dirty="0"/>
          </a:p>
        </p:txBody>
      </p:sp>
      <p:pic>
        <p:nvPicPr>
          <p:cNvPr id="3" name="Picture 2">
            <a:extLst>
              <a:ext uri="{FF2B5EF4-FFF2-40B4-BE49-F238E27FC236}">
                <a16:creationId xmlns:a16="http://schemas.microsoft.com/office/drawing/2014/main" id="{D01019AC-7B22-6B73-BE83-2ADA723A5BEB}"/>
              </a:ext>
            </a:extLst>
          </p:cNvPr>
          <p:cNvPicPr>
            <a:picLocks noChangeAspect="1"/>
          </p:cNvPicPr>
          <p:nvPr/>
        </p:nvPicPr>
        <p:blipFill>
          <a:blip r:embed="rId2"/>
          <a:stretch>
            <a:fillRect/>
          </a:stretch>
        </p:blipFill>
        <p:spPr>
          <a:xfrm>
            <a:off x="3886200" y="1294776"/>
            <a:ext cx="9935962" cy="50136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a:extLst>
              <a:ext uri="{FF2B5EF4-FFF2-40B4-BE49-F238E27FC236}">
                <a16:creationId xmlns:a16="http://schemas.microsoft.com/office/drawing/2014/main" id="{5FF0B2D0-7843-1835-7081-F69B51BDD5B8}"/>
              </a:ext>
            </a:extLst>
          </p:cNvPr>
          <p:cNvGrpSpPr/>
          <p:nvPr/>
        </p:nvGrpSpPr>
        <p:grpSpPr>
          <a:xfrm>
            <a:off x="14020800" y="-8142801"/>
            <a:ext cx="10994424" cy="10994424"/>
            <a:chOff x="0" y="0"/>
            <a:chExt cx="812800" cy="812800"/>
          </a:xfrm>
        </p:grpSpPr>
        <p:sp>
          <p:nvSpPr>
            <p:cNvPr id="3" name="Freeform 38">
              <a:extLst>
                <a:ext uri="{FF2B5EF4-FFF2-40B4-BE49-F238E27FC236}">
                  <a16:creationId xmlns:a16="http://schemas.microsoft.com/office/drawing/2014/main" id="{1E43E843-CEEF-9B58-BAB6-E0FEFB947A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a:extLst>
                <a:ext uri="{FF2B5EF4-FFF2-40B4-BE49-F238E27FC236}">
                  <a16:creationId xmlns:a16="http://schemas.microsoft.com/office/drawing/2014/main" id="{B7A3D907-9F7C-D8D3-DE54-E07FC037F8CA}"/>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7" name="AutoShape 2" descr="Job portal system workflow diagram">
            <a:extLst>
              <a:ext uri="{FF2B5EF4-FFF2-40B4-BE49-F238E27FC236}">
                <a16:creationId xmlns:a16="http://schemas.microsoft.com/office/drawing/2014/main" id="{B867E2BD-7736-0D90-ABCB-BE2E3894E14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405CC2FB-C7E1-9B3C-55AE-55D28B06E54F}"/>
              </a:ext>
            </a:extLst>
          </p:cNvPr>
          <p:cNvPicPr>
            <a:picLocks noChangeAspect="1"/>
          </p:cNvPicPr>
          <p:nvPr/>
        </p:nvPicPr>
        <p:blipFill>
          <a:blip r:embed="rId2"/>
          <a:stretch>
            <a:fillRect/>
          </a:stretch>
        </p:blipFill>
        <p:spPr>
          <a:xfrm>
            <a:off x="2979975" y="1959488"/>
            <a:ext cx="12578376" cy="684161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3449836"/>
          </a:xfrm>
          <a:prstGeom prst="rect">
            <a:avLst/>
          </a:prstGeom>
          <a:noFill/>
        </p:spPr>
        <p:txBody>
          <a:bodyPr wrap="square" rtlCol="0">
            <a:spAutoFit/>
          </a:bodyPr>
          <a:lstStyle/>
          <a:p>
            <a:pPr marL="457200" indent="-457200">
              <a:buFont typeface="Arial" panose="020B0604020202020204" pitchFamily="34" charset="0"/>
              <a:buChar char="•"/>
            </a:pPr>
            <a:r>
              <a:rPr lang="en-US" sz="2800" b="1" dirty="0"/>
              <a:t>Frontend:</a:t>
            </a:r>
          </a:p>
          <a:p>
            <a:r>
              <a:rPr lang="en-US" sz="2800" dirty="0"/>
              <a:t>	The frontend is developed using HTML5, CSS3, and JavaScript to create an interactive and user-	friendly </a:t>
            </a:r>
            <a:r>
              <a:rPr lang="en-US" sz="2800" dirty="0" err="1"/>
              <a:t>interface.Thymeleaf</a:t>
            </a:r>
            <a:r>
              <a:rPr lang="en-US" sz="2800" dirty="0"/>
              <a:t> is used as a template engine to integrate frontend with backend.</a:t>
            </a:r>
          </a:p>
          <a:p>
            <a:pPr marL="457200" indent="-457200">
              <a:buFont typeface="Arial" panose="020B0604020202020204" pitchFamily="34" charset="0"/>
              <a:buChar char="•"/>
            </a:pPr>
            <a:r>
              <a:rPr lang="en-US" sz="2800" b="1" dirty="0"/>
              <a:t>Backend:</a:t>
            </a:r>
          </a:p>
          <a:p>
            <a:r>
              <a:rPr lang="en-US" sz="2800" dirty="0"/>
              <a:t>	The backend is built using Spring Boot, which handles business logic and application processing.</a:t>
            </a:r>
            <a:br>
              <a:rPr lang="en-US" sz="2800" dirty="0"/>
            </a:br>
            <a:r>
              <a:rPr lang="en-US" sz="2800" dirty="0"/>
              <a:t>	It includes controller, service, and repository layers for efficient system management.</a:t>
            </a:r>
          </a:p>
          <a:p>
            <a:pPr marL="457200" indent="-457200">
              <a:buFont typeface="Arial" panose="020B0604020202020204" pitchFamily="34" charset="0"/>
              <a:buChar char="•"/>
            </a:pPr>
            <a:r>
              <a:rPr lang="en-US" sz="2800" b="1" dirty="0"/>
              <a:t>Database:</a:t>
            </a:r>
          </a:p>
          <a:p>
            <a:r>
              <a:rPr lang="en-US" sz="2800" dirty="0"/>
              <a:t>	MySQL is used as the database to store and manage data such as users, jobs, applications, and 	</a:t>
            </a:r>
            <a:r>
              <a:rPr lang="en-US" sz="2800" dirty="0" err="1"/>
              <a:t>companies.It</a:t>
            </a:r>
            <a:r>
              <a:rPr lang="en-US" sz="2800" dirty="0"/>
              <a:t> ensures secure, structured, and efficient data storage and retrieval.</a:t>
            </a:r>
          </a:p>
          <a:p>
            <a:pPr marL="457200" indent="-457200">
              <a:buFont typeface="Arial" panose="020B0604020202020204" pitchFamily="34" charset="0"/>
              <a:buChar char="•"/>
            </a:pPr>
            <a:r>
              <a:rPr lang="en-US" sz="2800" b="1" dirty="0"/>
              <a:t>Third-Party API:</a:t>
            </a:r>
          </a:p>
          <a:p>
            <a:r>
              <a:rPr lang="en-US" sz="2800" dirty="0"/>
              <a:t>	External APIs such as Email Service (Java Mail), OTP Service (Twilio), and Google Maps API are 	</a:t>
            </a:r>
            <a:r>
              <a:rPr lang="en-US" sz="2800" dirty="0" err="1"/>
              <a:t>integrated.These</a:t>
            </a:r>
            <a:r>
              <a:rPr lang="en-US" sz="2800" dirty="0"/>
              <a:t> APIs enhance functionality like notifications, verification, and location services</a:t>
            </a:r>
          </a:p>
          <a:p>
            <a:pPr marL="457200" indent="-457200">
              <a:buFont typeface="Arial" panose="020B0604020202020204" pitchFamily="34" charset="0"/>
              <a:buChar char="•"/>
            </a:pPr>
            <a:r>
              <a:rPr lang="en-US" sz="2800" b="1" dirty="0"/>
              <a:t>Tools:</a:t>
            </a:r>
          </a:p>
          <a:p>
            <a:r>
              <a:rPr lang="en-US" sz="2800" dirty="0"/>
              <a:t>	Tools like Visual Studio Code / IntelliJ IDEA are used for development, and Git is used for version 	control. </a:t>
            </a:r>
          </a:p>
          <a:p>
            <a:pPr marL="457200" indent="-457200">
              <a:buFont typeface="Arial" panose="020B0604020202020204" pitchFamily="34" charset="0"/>
              <a:buChar char="•"/>
            </a:pPr>
            <a:r>
              <a:rPr lang="en-US" sz="2800" b="1" dirty="0"/>
              <a:t>Hardware/Software Requirements:</a:t>
            </a:r>
          </a:p>
          <a:p>
            <a:r>
              <a:rPr lang="en-US" sz="2800" dirty="0"/>
              <a:t>	The system requires a computer with minimum 4GB RAM and a stable internet connection.</a:t>
            </a:r>
            <a:br>
              <a:rPr lang="en-US" sz="2800" dirty="0"/>
            </a:br>
            <a:r>
              <a:rPr lang="en-US" sz="2800" dirty="0"/>
              <a:t>	Software requirements include Java, MySQL Server, a web browser, and an IDE for development.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a:extLst>
              <a:ext uri="{FF2B5EF4-FFF2-40B4-BE49-F238E27FC236}">
                <a16:creationId xmlns:a16="http://schemas.microsoft.com/office/drawing/2014/main" id="{4D847D41-4470-420F-942D-93587F92804D}"/>
              </a:ext>
            </a:extLst>
          </p:cNvPr>
          <p:cNvGrpSpPr/>
          <p:nvPr/>
        </p:nvGrpSpPr>
        <p:grpSpPr>
          <a:xfrm>
            <a:off x="14401800" y="-2955537"/>
            <a:ext cx="10994424" cy="10994424"/>
            <a:chOff x="0" y="0"/>
            <a:chExt cx="812800" cy="812800"/>
          </a:xfrm>
        </p:grpSpPr>
        <p:sp>
          <p:nvSpPr>
            <p:cNvPr id="3" name="Freeform 38">
              <a:extLst>
                <a:ext uri="{FF2B5EF4-FFF2-40B4-BE49-F238E27FC236}">
                  <a16:creationId xmlns:a16="http://schemas.microsoft.com/office/drawing/2014/main" id="{A4FD480D-1445-2C4B-DB46-82271E5DF7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a:extLst>
                <a:ext uri="{FF2B5EF4-FFF2-40B4-BE49-F238E27FC236}">
                  <a16:creationId xmlns:a16="http://schemas.microsoft.com/office/drawing/2014/main" id="{26A1CA4A-B4D1-F4E6-0933-879F4CA7F8FA}"/>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11295400"/>
          </a:xfrm>
          <a:prstGeom prst="rect">
            <a:avLst/>
          </a:prstGeom>
          <a:noFill/>
        </p:spPr>
        <p:txBody>
          <a:bodyPr wrap="square" rtlCol="0">
            <a:spAutoFit/>
          </a:bodyPr>
          <a:lstStyle/>
          <a:p>
            <a:pPr marL="457200" indent="-457200">
              <a:buFont typeface="Arial" panose="020B0604020202020204" pitchFamily="34" charset="0"/>
              <a:buChar char="•"/>
            </a:pPr>
            <a:r>
              <a:rPr lang="en-US" sz="2800" b="1" dirty="0"/>
              <a:t>Module 1: User Management</a:t>
            </a:r>
          </a:p>
          <a:p>
            <a:r>
              <a:rPr lang="en-US" sz="2800" dirty="0"/>
              <a:t>	Handles registration and login for job seekers, employers, and admin with secure authentication.</a:t>
            </a:r>
            <a:br>
              <a:rPr lang="en-US" sz="2800" dirty="0"/>
            </a:br>
            <a:r>
              <a:rPr lang="en-US" sz="2800" dirty="0"/>
              <a:t>	Manages user profiles, resumes, and account details efficiently.</a:t>
            </a:r>
          </a:p>
          <a:p>
            <a:endParaRPr lang="en-IN" sz="2800" dirty="0"/>
          </a:p>
          <a:p>
            <a:pPr marL="457200" indent="-457200">
              <a:buFont typeface="Arial" panose="020B0604020202020204" pitchFamily="34" charset="0"/>
              <a:buChar char="•"/>
            </a:pPr>
            <a:r>
              <a:rPr lang="en-US" sz="2800" b="1" dirty="0"/>
              <a:t>Module 2: Job &amp; Application Management</a:t>
            </a:r>
          </a:p>
          <a:p>
            <a:r>
              <a:rPr lang="en-US" sz="2800" dirty="0"/>
              <a:t>	Allows employers to post job vacancies and manage job listings.</a:t>
            </a:r>
            <a:br>
              <a:rPr lang="en-US" sz="2800" dirty="0"/>
            </a:br>
            <a:r>
              <a:rPr lang="en-US" sz="2800" dirty="0"/>
              <a:t>	Enables job seekers to search, apply, and track application status.</a:t>
            </a:r>
          </a:p>
          <a:p>
            <a:endParaRPr lang="en-US" sz="2800" dirty="0"/>
          </a:p>
          <a:p>
            <a:pPr marL="457200" indent="-457200">
              <a:buFont typeface="Arial" panose="020B0604020202020204" pitchFamily="34" charset="0"/>
              <a:buChar char="•"/>
            </a:pPr>
            <a:r>
              <a:rPr lang="en-US" sz="2800" b="1" dirty="0"/>
              <a:t>Module 3: Backend Processing</a:t>
            </a:r>
          </a:p>
          <a:p>
            <a:r>
              <a:rPr lang="en-US" sz="2800" dirty="0"/>
              <a:t>	Implements business logic using Spring Boot to handle requests and system operations.</a:t>
            </a:r>
            <a:br>
              <a:rPr lang="en-US" sz="2800" dirty="0"/>
            </a:br>
            <a:r>
              <a:rPr lang="en-US" sz="2800" dirty="0"/>
              <a:t>	Processes data validation, job matching, and application workflows.</a:t>
            </a:r>
          </a:p>
          <a:p>
            <a:endParaRPr lang="en-US" sz="2800" dirty="0"/>
          </a:p>
          <a:p>
            <a:pPr marL="457200" indent="-457200">
              <a:buFont typeface="Arial" panose="020B0604020202020204" pitchFamily="34" charset="0"/>
              <a:buChar char="•"/>
            </a:pPr>
            <a:r>
              <a:rPr lang="en-US" sz="2800" b="1" dirty="0"/>
              <a:t>Module 4: Database Management</a:t>
            </a:r>
          </a:p>
          <a:p>
            <a:r>
              <a:rPr lang="en-US" sz="2800" dirty="0"/>
              <a:t>	Stores and manages data such as users, jobs, applications, and companies in MySQL.</a:t>
            </a:r>
            <a:br>
              <a:rPr lang="en-US" sz="2800" dirty="0"/>
            </a:br>
            <a:r>
              <a:rPr lang="en-US" sz="2800" dirty="0"/>
              <a:t>	Ensures secure storage, quick retrieval, and data integrity.</a:t>
            </a:r>
          </a:p>
          <a:p>
            <a:endParaRPr lang="en-US" sz="2800" dirty="0"/>
          </a:p>
          <a:p>
            <a:pPr marL="457200" indent="-457200">
              <a:buFont typeface="Arial" panose="020B0604020202020204" pitchFamily="34" charset="0"/>
              <a:buChar char="•"/>
            </a:pPr>
            <a:r>
              <a:rPr lang="en-US" sz="2800" b="1" dirty="0"/>
              <a:t>Module 6: Reporting &amp; Admin Control</a:t>
            </a:r>
          </a:p>
          <a:p>
            <a:r>
              <a:rPr lang="en-US" sz="2800" dirty="0"/>
              <a:t>	Allows admin to manage users, jobs, and system settings.</a:t>
            </a:r>
            <a:br>
              <a:rPr lang="en-US" sz="2800" dirty="0"/>
            </a:br>
            <a:r>
              <a:rPr lang="en-US" sz="2800" dirty="0"/>
              <a:t>	Generates reports and analytics for better monitoring and decision-making.</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8279190"/>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a:p>
            <a:pPr marL="457200" indent="-457200">
              <a:buFontTx/>
              <a:buChar char="-"/>
            </a:pPr>
            <a:endParaRPr lang="en-IN" sz="2800" dirty="0"/>
          </a:p>
          <a:p>
            <a:pPr marL="457200" indent="-457200">
              <a:buFont typeface="Arial" panose="020B0604020202020204" pitchFamily="34" charset="0"/>
              <a:buChar char="•"/>
            </a:pPr>
            <a:r>
              <a:rPr lang="en-US" sz="2800" dirty="0"/>
              <a:t>Figure shows the homepage of the job portal management system. This page acts as the main dashboard of the application, where users can view placement ex </a:t>
            </a:r>
            <a:r>
              <a:rPr lang="en-US" sz="2800" dirty="0" err="1"/>
              <a:t>periences</a:t>
            </a:r>
            <a:r>
              <a:rPr lang="en-US" sz="2800" dirty="0"/>
              <a:t> shared by other students. Each post contains important details such as company name, job role, interview status, and experience summary.</a:t>
            </a:r>
            <a:endParaRPr lang="en-IN"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82BF4A51-275F-4FA6-7AED-602939D463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1680" y="1322084"/>
            <a:ext cx="14422012" cy="623123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85746"/>
            <a:ext cx="15082325" cy="784830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 typeface="Arial" panose="020B0604020202020204" pitchFamily="34" charset="0"/>
              <a:buChar char="•"/>
            </a:pPr>
            <a:r>
              <a:rPr lang="en-US" sz="2800" dirty="0"/>
              <a:t>Figure shows the post details page of the job portal management system. This page displays complete information about a placement experience shared by a user, including the company name, job role, interview rounds, and overall experience sum </a:t>
            </a:r>
            <a:r>
              <a:rPr lang="en-US" sz="2800" dirty="0" err="1"/>
              <a:t>mary</a:t>
            </a:r>
            <a:r>
              <a:rPr lang="en-US" sz="2800" dirty="0"/>
              <a:t>. </a:t>
            </a:r>
          </a:p>
        </p:txBody>
      </p:sp>
      <p:pic>
        <p:nvPicPr>
          <p:cNvPr id="3" name="Picture 2">
            <a:extLst>
              <a:ext uri="{FF2B5EF4-FFF2-40B4-BE49-F238E27FC236}">
                <a16:creationId xmlns:a16="http://schemas.microsoft.com/office/drawing/2014/main" id="{172353DC-8EFE-EB0C-DC8C-3AD591068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5800" y="1220555"/>
            <a:ext cx="8610600" cy="647246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64133" y="1600443"/>
            <a:ext cx="5257800" cy="3970318"/>
          </a:xfrm>
          <a:prstGeom prst="rect">
            <a:avLst/>
          </a:prstGeom>
          <a:noFill/>
        </p:spPr>
        <p:txBody>
          <a:bodyPr wrap="square" rtlCol="0">
            <a:spAutoFit/>
          </a:bodyPr>
          <a:lstStyle/>
          <a:p>
            <a:r>
              <a:rPr lang="en-US" sz="2800" b="1" dirty="0"/>
              <a:t>        Employee sign in page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8C669F5E-D683-06DA-6F1A-B1A71266369B}"/>
              </a:ext>
            </a:extLst>
          </p:cNvPr>
          <p:cNvSpPr txBox="1"/>
          <p:nvPr/>
        </p:nvSpPr>
        <p:spPr>
          <a:xfrm>
            <a:off x="11441822" y="1697977"/>
            <a:ext cx="5257800" cy="3539430"/>
          </a:xfrm>
          <a:prstGeom prst="rect">
            <a:avLst/>
          </a:prstGeom>
          <a:noFill/>
        </p:spPr>
        <p:txBody>
          <a:bodyPr wrap="square" rtlCol="0">
            <a:spAutoFit/>
          </a:bodyPr>
          <a:lstStyle/>
          <a:p>
            <a:r>
              <a:rPr lang="en-US" sz="2800" b="1" dirty="0"/>
              <a:t>   Candidate sign in page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cxnSp>
        <p:nvCxnSpPr>
          <p:cNvPr id="5" name="Straight Connector 4">
            <a:extLst>
              <a:ext uri="{FF2B5EF4-FFF2-40B4-BE49-F238E27FC236}">
                <a16:creationId xmlns:a16="http://schemas.microsoft.com/office/drawing/2014/main" id="{5E692DFD-6E98-89D6-2A9C-89F636006C8F}"/>
              </a:ext>
            </a:extLst>
          </p:cNvPr>
          <p:cNvCxnSpPr/>
          <p:nvPr/>
        </p:nvCxnSpPr>
        <p:spPr>
          <a:xfrm>
            <a:off x="9448800" y="1697977"/>
            <a:ext cx="0" cy="7484123"/>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7408C86-48D5-BE2A-EB7A-723944E6E0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39457" y="2475171"/>
            <a:ext cx="6430272" cy="6973272"/>
          </a:xfrm>
          <a:prstGeom prst="rect">
            <a:avLst/>
          </a:prstGeom>
        </p:spPr>
      </p:pic>
      <p:pic>
        <p:nvPicPr>
          <p:cNvPr id="34" name="Picture 33">
            <a:extLst>
              <a:ext uri="{FF2B5EF4-FFF2-40B4-BE49-F238E27FC236}">
                <a16:creationId xmlns:a16="http://schemas.microsoft.com/office/drawing/2014/main" id="{7814E0A3-01F6-80A4-D501-4621FF511C40}"/>
              </a:ext>
            </a:extLst>
          </p:cNvPr>
          <p:cNvPicPr>
            <a:picLocks noChangeAspect="1"/>
          </p:cNvPicPr>
          <p:nvPr/>
        </p:nvPicPr>
        <p:blipFill>
          <a:blip r:embed="rId3"/>
          <a:stretch>
            <a:fillRect/>
          </a:stretch>
        </p:blipFill>
        <p:spPr>
          <a:xfrm>
            <a:off x="2248893" y="2475171"/>
            <a:ext cx="5868219" cy="6973273"/>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4E952C58-8480-45AF-A322-6DBD647D1E15}"/>
              </a:ext>
            </a:extLst>
          </p:cNvPr>
          <p:cNvSpPr txBox="1"/>
          <p:nvPr/>
        </p:nvSpPr>
        <p:spPr>
          <a:xfrm>
            <a:off x="2209800" y="1638300"/>
            <a:ext cx="15082325" cy="7417415"/>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a:p>
            <a:pPr marL="457200" indent="-457200">
              <a:buFontTx/>
              <a:buChar char="-"/>
            </a:pPr>
            <a:endParaRPr lang="en-IN" sz="2800" dirty="0"/>
          </a:p>
          <a:p>
            <a:pPr marL="457200" indent="-457200">
              <a:buFont typeface="Arial" panose="020B0604020202020204" pitchFamily="34" charset="0"/>
              <a:buChar char="•"/>
            </a:pPr>
            <a:r>
              <a:rPr lang="en-US" sz="2800" dirty="0"/>
              <a:t>Figure shows the posting page of the system. This page allows authenticated users to share their placement experiences by entering details such as company name, job role, placement type, interview year, and round-wise experiences. Users can add technical questions, coding challenges, and preparation tips based on their interview journey.</a:t>
            </a:r>
            <a:endParaRPr lang="en-IN" sz="2800" dirty="0"/>
          </a:p>
        </p:txBody>
      </p:sp>
      <p:pic>
        <p:nvPicPr>
          <p:cNvPr id="4" name="Picture 3">
            <a:extLst>
              <a:ext uri="{FF2B5EF4-FFF2-40B4-BE49-F238E27FC236}">
                <a16:creationId xmlns:a16="http://schemas.microsoft.com/office/drawing/2014/main" id="{15B399D9-B88C-A218-D8E1-23B64372F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8917" y="1638300"/>
            <a:ext cx="12449175" cy="529973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31A08-FC7E-E512-85E3-5A8DF3EBA1E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0BB2DCE9-09B2-3827-0C54-7250AFB7359C}"/>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92DCF036-D101-249B-C54F-D58E4E597AB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D1170D6-06BB-DFFF-2477-50FD484405A4}"/>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3785E3DA-43D7-6E2B-749D-244B47A44AF5}"/>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1087445-13BC-A3C2-4EAB-172A2DFF827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D6BC875-4EF7-1E48-E27F-CD2CB9084C9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9A246BAE-7768-85A5-769E-DD4E0EC948CC}"/>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D5386C6-D378-1F86-3A74-665CAF7093C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388E6EA-CC2C-1138-B38D-334C1FAC676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4FAEF74E-26CF-34A1-C455-EACB215CD50D}"/>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8D273E81-3F09-3E12-65AB-91ACBC666CE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50AFF68D-04DA-05F5-EEFC-F8696BEA8B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1E02272-B02D-8927-8DE9-30A71B1B5C03}"/>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D15D95B6-3A29-FC02-EB48-9FEF5DF2BE2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7EE3B5F9-3E74-DB4B-8449-14B55FBC13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379B76B1-565E-D6B4-A58D-F5B455AB933C}"/>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802AF821-05F9-F6C8-352E-991A3B7F530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17ECA61-F265-684D-5BC5-25BD519341D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249936D-46DB-340A-ADF8-78F415479855}"/>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A2C15C50-2FF6-0A35-9919-1804313CC7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23C08F9B-98FC-EAA8-F170-9DFC72F1E2D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6B638819-E938-92E6-85E3-83DB4781E6A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8A0F2E00-1F56-DA43-BC39-CF1D23BBE2D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2574F49-B0CA-ABD8-06B6-8B63313AC83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59DF8B14-A995-2A5D-D49A-5FEB6109B7AC}"/>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E9DDC544-CFB7-FF35-C651-90DB255994C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5519A7CF-36B0-E5DF-CA4C-E3305A017B1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9A1EE6FB-E3CE-2D3B-EEF8-29E237D90D77}"/>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D029D1-9105-EAFF-D51D-80FFB3E7888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A37FCF64-A25F-B7B1-3231-F0ED02AB601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825A7B4E-B6B6-4A34-72D3-B680576DECA5}"/>
              </a:ext>
            </a:extLst>
          </p:cNvPr>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D36598B5-E12E-2312-2D11-26F42AEFD3F5}"/>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A1A4B2BB-27EE-9136-DC70-3E3D3A0AB764}"/>
              </a:ext>
            </a:extLst>
          </p:cNvPr>
          <p:cNvSpPr txBox="1"/>
          <p:nvPr/>
        </p:nvSpPr>
        <p:spPr>
          <a:xfrm>
            <a:off x="2209800" y="1638300"/>
            <a:ext cx="15082325" cy="6986528"/>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 typeface="Arial" panose="020B0604020202020204" pitchFamily="34" charset="0"/>
              <a:buChar char="•"/>
            </a:pPr>
            <a:r>
              <a:rPr lang="en-US" sz="2800" dirty="0"/>
              <a:t>Figure 5.5 shows the user profile page of the job portal management system. This page displays user information such as profile details, shared placement experiences, and user activity within the platform. It allows users to manage their personal in formation and view their contributions. </a:t>
            </a:r>
            <a:endParaRPr lang="en-IN" sz="2800" dirty="0"/>
          </a:p>
        </p:txBody>
      </p:sp>
      <p:pic>
        <p:nvPicPr>
          <p:cNvPr id="4" name="Picture 3">
            <a:extLst>
              <a:ext uri="{FF2B5EF4-FFF2-40B4-BE49-F238E27FC236}">
                <a16:creationId xmlns:a16="http://schemas.microsoft.com/office/drawing/2014/main" id="{C393543D-06DE-1BA7-9454-CA08E97923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4287" y="1726614"/>
            <a:ext cx="10729913" cy="5262978"/>
          </a:xfrm>
          <a:prstGeom prst="rect">
            <a:avLst/>
          </a:prstGeom>
        </p:spPr>
      </p:pic>
    </p:spTree>
    <p:extLst>
      <p:ext uri="{BB962C8B-B14F-4D97-AF65-F5344CB8AC3E}">
        <p14:creationId xmlns:p14="http://schemas.microsoft.com/office/powerpoint/2010/main" val="1200987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4F2BA-FD67-88B5-D00A-FB42DF0E42BE}"/>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E523E47-FF12-EB4F-CE4E-15E2BD90E35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0BF7AEA-D128-304C-183A-EB3077D12D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E5B44C9-58D3-B109-89D1-E8FFD2315F0E}"/>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74E56993-8907-140B-5665-32E2F0E72519}"/>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A11C3DB8-7383-8D70-BB09-1A750F2C0F8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C6851A8C-42BC-3992-679E-AF3EB93D8C8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7FC4CA35-A97E-BE99-FA00-97839403BA62}"/>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06C0D29F-FB0D-BB96-D4AE-A8C22A8CB3E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DFDBF821-9269-FB5A-0458-881A0E029C5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4DA79A4-C081-806C-6C3A-C91A9D054D41}"/>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5FDCDD9-077E-974D-5AC5-094EB0F0F9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0BD027CC-442F-A18F-1E78-2F68E60EBF6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D8743EF0-28DB-F432-0FD1-1CA6C5202E92}"/>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836A8DF1-B551-FE2A-F144-BEB434B06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561A89A0-58F9-057C-6EDE-74C4F5446F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AF53D3D6-9FBD-55E1-7943-DBF89C0B7FD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7FF8775B-97DF-7420-5EFD-8EB72B3097B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6E0800F5-9605-6E15-B0D5-CC1C1DEF93A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56835700-6327-3DF6-F246-625A9BB811E4}"/>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C045791B-6506-76B9-2340-8EB2633D35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88D1A950-C54D-5AC4-4D6C-4E7E3BDFD21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976B9CD8-6827-A492-006D-876430D4A63E}"/>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DE122907-AE55-D4AB-0A97-62A51C31AE4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1A2A6DCC-7E15-52F6-783E-563DE4EDE04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1B6F1BAB-47A0-DD22-93AF-14EAB24A610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D7F4897-BA88-6C0E-DA58-A9E65DADA3C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567B0E0F-78E1-D4C5-BB5E-6866A52ABF0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CDA9535A-AF12-0C77-A819-68E316B95B01}"/>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B3566A7-7E62-ED9D-5F2B-3D6E594172E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966596B-4DE4-21F6-F8EB-0B1F9C6C8A90}"/>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D65E6BB-7A3E-1F80-BE43-504A3408DC11}"/>
              </a:ext>
            </a:extLst>
          </p:cNvPr>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4CC6DFF-6FEB-8F4B-CAF5-E76C7611A2E6}"/>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A83177DF-34AF-881C-BCB8-8B1D28F88137}"/>
              </a:ext>
            </a:extLst>
          </p:cNvPr>
          <p:cNvSpPr txBox="1"/>
          <p:nvPr/>
        </p:nvSpPr>
        <p:spPr>
          <a:xfrm>
            <a:off x="2209800" y="1638300"/>
            <a:ext cx="15082325" cy="7417415"/>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pPr marL="457200" indent="-457200">
              <a:buFont typeface="Arial" panose="020B0604020202020204" pitchFamily="34" charset="0"/>
              <a:buChar char="•"/>
            </a:pPr>
            <a:r>
              <a:rPr lang="en-US" sz="2800" dirty="0"/>
              <a:t>The image shows the applications table in the MySQL database of the Job Portal Management System.</a:t>
            </a:r>
            <a:br>
              <a:rPr lang="en-US" sz="2800" dirty="0"/>
            </a:br>
            <a:r>
              <a:rPr lang="en-US" sz="2800" dirty="0"/>
              <a:t>It displays job application details such as job ID, student ID, status, and application time.</a:t>
            </a:r>
            <a:endParaRPr lang="en-IN" sz="2800" dirty="0"/>
          </a:p>
        </p:txBody>
      </p:sp>
      <p:pic>
        <p:nvPicPr>
          <p:cNvPr id="6" name="Picture 5">
            <a:extLst>
              <a:ext uri="{FF2B5EF4-FFF2-40B4-BE49-F238E27FC236}">
                <a16:creationId xmlns:a16="http://schemas.microsoft.com/office/drawing/2014/main" id="{59FF9E47-FA92-4959-ED8D-1FCAE97E9310}"/>
              </a:ext>
            </a:extLst>
          </p:cNvPr>
          <p:cNvPicPr>
            <a:picLocks noChangeAspect="1"/>
          </p:cNvPicPr>
          <p:nvPr/>
        </p:nvPicPr>
        <p:blipFill>
          <a:blip r:embed="rId2"/>
          <a:stretch>
            <a:fillRect/>
          </a:stretch>
        </p:blipFill>
        <p:spPr>
          <a:xfrm>
            <a:off x="3200400" y="1557555"/>
            <a:ext cx="10994424" cy="5837279"/>
          </a:xfrm>
          <a:prstGeom prst="rect">
            <a:avLst/>
          </a:prstGeom>
        </p:spPr>
      </p:pic>
    </p:spTree>
    <p:extLst>
      <p:ext uri="{BB962C8B-B14F-4D97-AF65-F5344CB8AC3E}">
        <p14:creationId xmlns:p14="http://schemas.microsoft.com/office/powerpoint/2010/main" val="812851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564A3AA-180B-AC7A-8E0C-9EBC8F53E22F}"/>
              </a:ext>
            </a:extLst>
          </p:cNvPr>
          <p:cNvSpPr txBox="1"/>
          <p:nvPr/>
        </p:nvSpPr>
        <p:spPr>
          <a:xfrm>
            <a:off x="2735080" y="1632449"/>
            <a:ext cx="14051280" cy="6986528"/>
          </a:xfrm>
          <a:prstGeom prst="rect">
            <a:avLst/>
          </a:prstGeom>
          <a:noFill/>
        </p:spPr>
        <p:txBody>
          <a:bodyPr wrap="square">
            <a:spAutoFit/>
          </a:bodyPr>
          <a:lstStyle/>
          <a:p>
            <a:pPr>
              <a:buNone/>
            </a:pPr>
            <a:r>
              <a:rPr lang="en-US" sz="2800" b="1" dirty="0"/>
              <a:t>Advantages</a:t>
            </a:r>
          </a:p>
          <a:p>
            <a:pPr marL="457200" indent="-457200">
              <a:buFont typeface="Arial" panose="020B0604020202020204" pitchFamily="34" charset="0"/>
              <a:buChar char="•"/>
            </a:pPr>
            <a:r>
              <a:rPr lang="en-US" sz="2800" dirty="0"/>
              <a:t>Provides a centralized platform for job seekers and employers. </a:t>
            </a:r>
          </a:p>
          <a:p>
            <a:pPr marL="457200" indent="-457200">
              <a:buFont typeface="Arial" panose="020B0604020202020204" pitchFamily="34" charset="0"/>
              <a:buChar char="•"/>
            </a:pPr>
            <a:r>
              <a:rPr lang="en-US" sz="2800" dirty="0"/>
              <a:t>Reduces time and effort in the recruitment process. </a:t>
            </a:r>
          </a:p>
          <a:p>
            <a:pPr marL="457200" indent="-457200">
              <a:buFont typeface="Arial" panose="020B0604020202020204" pitchFamily="34" charset="0"/>
              <a:buChar char="•"/>
            </a:pPr>
            <a:r>
              <a:rPr lang="en-US" sz="2800" dirty="0"/>
              <a:t>Easy to search, apply, and manage job applications online. </a:t>
            </a:r>
          </a:p>
          <a:p>
            <a:pPr marL="457200" indent="-457200">
              <a:buFont typeface="Arial" panose="020B0604020202020204" pitchFamily="34" charset="0"/>
              <a:buChar char="•"/>
            </a:pPr>
            <a:r>
              <a:rPr lang="en-US" sz="2800" dirty="0"/>
              <a:t>Improves communication between candidates and recruiters. </a:t>
            </a:r>
          </a:p>
          <a:p>
            <a:pPr marL="457200" indent="-457200">
              <a:buFont typeface="Arial" panose="020B0604020202020204" pitchFamily="34" charset="0"/>
              <a:buChar char="•"/>
            </a:pPr>
            <a:r>
              <a:rPr lang="en-US" sz="2800" dirty="0"/>
              <a:t>User-friendly interface for better accessibility. </a:t>
            </a:r>
          </a:p>
          <a:p>
            <a:pPr marL="457200" indent="-457200">
              <a:buFont typeface="Arial" panose="020B0604020202020204" pitchFamily="34" charset="0"/>
              <a:buChar char="•"/>
            </a:pPr>
            <a:r>
              <a:rPr lang="en-US" sz="2800" dirty="0"/>
              <a:t>Secure data management using database systems</a:t>
            </a:r>
          </a:p>
          <a:p>
            <a:pPr>
              <a:buFont typeface="Arial" panose="020B0604020202020204" pitchFamily="34" charset="0"/>
              <a:buChar char="•"/>
            </a:pPr>
            <a:endParaRPr lang="en-US" sz="2800" dirty="0"/>
          </a:p>
          <a:p>
            <a:r>
              <a:rPr lang="en-US" sz="2800" b="1" dirty="0"/>
              <a:t>Limitations</a:t>
            </a:r>
          </a:p>
          <a:p>
            <a:pPr marL="457200" indent="-457200">
              <a:buFont typeface="Arial" panose="020B0604020202020204" pitchFamily="34" charset="0"/>
              <a:buChar char="•"/>
            </a:pPr>
            <a:r>
              <a:rPr lang="en-US" sz="2800" dirty="0"/>
              <a:t>Requires internet connection to access the system. </a:t>
            </a:r>
          </a:p>
          <a:p>
            <a:pPr marL="457200" indent="-457200">
              <a:buFont typeface="Arial" panose="020B0604020202020204" pitchFamily="34" charset="0"/>
              <a:buChar char="•"/>
            </a:pPr>
            <a:r>
              <a:rPr lang="en-US" sz="2800" dirty="0"/>
              <a:t>Initial setup and maintenance can be complex. </a:t>
            </a:r>
          </a:p>
          <a:p>
            <a:pPr marL="457200" indent="-457200">
              <a:buFont typeface="Arial" panose="020B0604020202020204" pitchFamily="34" charset="0"/>
              <a:buChar char="•"/>
            </a:pPr>
            <a:r>
              <a:rPr lang="en-US" sz="2800" dirty="0"/>
              <a:t>Data security risks if not properly managed. </a:t>
            </a:r>
          </a:p>
          <a:p>
            <a:pPr marL="457200" indent="-457200">
              <a:buFont typeface="Arial" panose="020B0604020202020204" pitchFamily="34" charset="0"/>
              <a:buChar char="•"/>
            </a:pPr>
            <a:r>
              <a:rPr lang="en-US" sz="2800" dirty="0"/>
              <a:t>Depends on system performance and server availability. </a:t>
            </a:r>
          </a:p>
          <a:p>
            <a:pPr marL="457200" indent="-457200">
              <a:buFont typeface="Arial" panose="020B0604020202020204" pitchFamily="34" charset="0"/>
              <a:buChar char="•"/>
            </a:pPr>
            <a:r>
              <a:rPr lang="en-US" sz="2800" dirty="0"/>
              <a:t>Limited features compared to large commercial platforms. </a:t>
            </a:r>
          </a:p>
          <a:p>
            <a:pPr marL="457200" indent="-457200">
              <a:buFont typeface="Arial" panose="020B0604020202020204" pitchFamily="34" charset="0"/>
              <a:buChar char="•"/>
            </a:pPr>
            <a:r>
              <a:rPr lang="en-US" sz="2800" dirty="0"/>
              <a:t>May require regular updates and technical support.</a:t>
            </a:r>
          </a:p>
          <a:p>
            <a:pPr>
              <a:buFont typeface="Arial" panose="020B0604020202020204" pitchFamily="34" charset="0"/>
              <a:buChar char="•"/>
            </a:pPr>
            <a:endParaRPr lang="en-US" sz="2800" dirty="0"/>
          </a:p>
        </p:txBody>
      </p:sp>
    </p:spTree>
    <p:extLst>
      <p:ext uri="{BB962C8B-B14F-4D97-AF65-F5344CB8AC3E}">
        <p14:creationId xmlns:p14="http://schemas.microsoft.com/office/powerpoint/2010/main" val="1838976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TotalTime>
  <Words>1561</Words>
  <Application>Microsoft Office PowerPoint</Application>
  <PresentationFormat>Custom</PresentationFormat>
  <Paragraphs>461</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Gotham Bold Italics</vt:lpstr>
      <vt:lpstr>Gotham</vt:lpstr>
      <vt:lpstr>Times New Roman</vt:lpstr>
      <vt:lpstr>Bookman Old Style</vt:lpstr>
      <vt:lpstr>Calibri</vt:lpstr>
      <vt:lpstr>Cambria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HP</dc:creator>
  <cp:lastModifiedBy>Sai Manikanta</cp:lastModifiedBy>
  <cp:revision>15</cp:revision>
  <dcterms:created xsi:type="dcterms:W3CDTF">2006-08-16T00:00:00Z</dcterms:created>
  <dcterms:modified xsi:type="dcterms:W3CDTF">2026-05-06T04:09:12Z</dcterms:modified>
  <dc:identifier>DAHCaYqJ9OU</dc:identifier>
</cp:coreProperties>
</file>